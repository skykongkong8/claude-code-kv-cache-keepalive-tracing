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825935" y="0"/>
            <a:ext cx="365760" cy="6858000"/>
          </a:xfrm>
          <a:prstGeom prst="rect">
            <a:avLst/>
          </a:prstGeom>
          <a:solidFill>
            <a:srgbClr val="0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265615" y="274320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BFBFBF"/>
                </a:solidFill>
                <a:latin typeface="Apple SD Gothic Neo"/>
              </a:rPr>
              <a:t>INTERNAL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94560"/>
            <a:ext cx="10865815" cy="1463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4000" b="1" i="0">
                <a:solidFill>
                  <a:srgbClr val="1A1A1A"/>
                </a:solidFill>
                <a:latin typeface="Apple SD Gothic Neo"/>
              </a:rPr>
              <a:t>Claude Code KV-캐시를 살려둘 가치가 있는가?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11880"/>
            <a:ext cx="10865815" cy="731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2000" b="0" i="0">
                <a:solidFill>
                  <a:srgbClr val="BFBFBF"/>
                </a:solidFill>
                <a:latin typeface="Apple SD Gothic Neo"/>
              </a:rPr>
              <a:t>개념부터 차근차근 — 구독 과금 환경에서 cache-keepalive 플러그인 실측 A/B 검증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5760720"/>
            <a:ext cx="5943600" cy="0"/>
          </a:xfrm>
          <a:prstGeom prst="line">
            <a:avLst/>
          </a:prstGeom>
          <a:ln w="12700">
            <a:solidFill>
              <a:srgbClr val="0A1F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58978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300" b="1" i="0">
                <a:solidFill>
                  <a:srgbClr val="1A1A1A"/>
                </a:solidFill>
                <a:latin typeface="Apple SD Gothic Neo"/>
              </a:rPr>
              <a:t>Claude Code v2.1.18x · Claude Pro · Opus 4.8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19048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200" b="0" i="0">
                <a:solidFill>
                  <a:srgbClr val="888888"/>
                </a:solidFill>
                <a:latin typeface="Apple SD Gothic Neo"/>
              </a:rPr>
              <a:t>2026-06-22 · 라이브 중첩 세션 5종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411480" y="640080"/>
            <a:ext cx="11368735" cy="0"/>
          </a:xfrm>
          <a:prstGeom prst="line">
            <a:avLst/>
          </a:prstGeom>
          <a:ln w="508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11480" y="274320"/>
            <a:ext cx="11368735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BFBFBF"/>
                </a:solidFill>
                <a:latin typeface="Apple SD Gothic Neo"/>
              </a:rPr>
              <a:t>cache-keepalive 검증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2447" y="1417320"/>
            <a:ext cx="8686800" cy="3657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ple SD Gothic Neo"/>
              </a:rPr>
              <a:t>결론: 이 환경에서 플러그인은 비용을 줄이지 못하고 구독 쿼터만 소모한다 — 캐시 유효시간(TTL)이 1시간이라 7분 정도 쉬는 것으로는 캐시가 스스로 살아있고, 킵얼라이브 핑은 절약 없이 5시간 요청 쿼터만 깎는다. 끄는 것을 권고한다.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79815" y="6492240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buNone/>
            </a:pPr>
            <a:r>
              <a:rPr sz="900" b="0" i="0">
                <a:solidFill>
                  <a:srgbClr val="BFBFBF"/>
                </a:solidFill>
                <a:latin typeface="Apple SD Gothic Neo"/>
              </a:rPr>
              <a:t>McKinsey &amp; Company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500055" y="164592"/>
            <a:ext cx="1280160" cy="274320"/>
          </a:xfrm>
          <a:prstGeom prst="rect">
            <a:avLst/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45775" y="164592"/>
            <a:ext cx="1188719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888888"/>
                </a:solidFill>
                <a:latin typeface="Apple SD Gothic Neo"/>
              </a:rPr>
              <a:t>캐시 킵얼라이브 검증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11480"/>
            <a:ext cx="1136873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2400" b="1" i="0">
                <a:solidFill>
                  <a:srgbClr val="1A1A1A"/>
                </a:solidFill>
                <a:latin typeface="Apple SD Gothic Neo"/>
              </a:rPr>
              <a:t>이 보고서를 읽는 순서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1051560"/>
            <a:ext cx="11368735" cy="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11480" y="6446520"/>
            <a:ext cx="11368735" cy="0"/>
          </a:xfrm>
          <a:prstGeom prst="line">
            <a:avLst/>
          </a:prstGeom>
          <a:ln w="63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122615" y="6537959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buNone/>
            </a:pPr>
            <a:r>
              <a:rPr sz="900" b="0" i="0">
                <a:solidFill>
                  <a:srgbClr val="888888"/>
                </a:solidFill>
                <a:latin typeface="Apple SD Gothic Neo"/>
              </a:rPr>
              <a:t>ⓒ 2026 AX Labs   3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1965960"/>
            <a:ext cx="502920" cy="502920"/>
          </a:xfrm>
          <a:prstGeom prst="ellipse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96596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Apple SD Gothic Neo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1988819"/>
            <a:ext cx="8686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600" b="1" i="0">
                <a:solidFill>
                  <a:srgbClr val="2E9BD6"/>
                </a:solidFill>
                <a:latin typeface="Apple SD Gothic Neo"/>
              </a:rPr>
              <a:t>배경 개념: 프롬프트 캐시란 무엇인가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68680" y="2606040"/>
            <a:ext cx="10454335" cy="0"/>
          </a:xfrm>
          <a:prstGeom prst="line">
            <a:avLst/>
          </a:prstGeom>
          <a:ln w="508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868680" y="2743200"/>
            <a:ext cx="502920" cy="502920"/>
          </a:xfrm>
          <a:prstGeom prst="ellipse">
            <a:avLst/>
          </a:prstGeom>
          <a:solidFill>
            <a:srgbClr val="0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74320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Apple SD Gothic Neo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2766060"/>
            <a:ext cx="8686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600" b="0" i="0">
                <a:solidFill>
                  <a:srgbClr val="1A1A1A"/>
                </a:solidFill>
                <a:latin typeface="Apple SD Gothic Neo"/>
              </a:rPr>
              <a:t>배경 개념: 구독 과금 vs API 과금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68680" y="3383280"/>
            <a:ext cx="10454335" cy="0"/>
          </a:xfrm>
          <a:prstGeom prst="line">
            <a:avLst/>
          </a:prstGeom>
          <a:ln w="508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868680" y="3520440"/>
            <a:ext cx="502920" cy="502920"/>
          </a:xfrm>
          <a:prstGeom prst="ellipse">
            <a:avLst/>
          </a:prstGeom>
          <a:solidFill>
            <a:srgbClr val="0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52044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Apple SD Gothic Neo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3543300"/>
            <a:ext cx="8686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600" b="0" i="0">
                <a:solidFill>
                  <a:srgbClr val="1A1A1A"/>
                </a:solidFill>
                <a:latin typeface="Apple SD Gothic Neo"/>
              </a:rPr>
              <a:t>이 실험이 알아내려던 것 (A/B 설계)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68680" y="4160520"/>
            <a:ext cx="10454335" cy="0"/>
          </a:xfrm>
          <a:prstGeom prst="line">
            <a:avLst/>
          </a:prstGeom>
          <a:ln w="508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868680" y="4297679"/>
            <a:ext cx="502920" cy="502920"/>
          </a:xfrm>
          <a:prstGeom prst="ellipse">
            <a:avLst/>
          </a:prstGeom>
          <a:solidFill>
            <a:srgbClr val="0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297679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Apple SD Gothic Neo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37360" y="4320540"/>
            <a:ext cx="8686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600" b="0" i="0">
                <a:solidFill>
                  <a:srgbClr val="1A1A1A"/>
                </a:solidFill>
                <a:latin typeface="Apple SD Gothic Neo"/>
              </a:rPr>
              <a:t>실측 결과: 캐시 상태·히트율·TTL 분해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68680" y="4937759"/>
            <a:ext cx="10454335" cy="0"/>
          </a:xfrm>
          <a:prstGeom prst="line">
            <a:avLst/>
          </a:prstGeom>
          <a:ln w="508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868680" y="5074920"/>
            <a:ext cx="502920" cy="502920"/>
          </a:xfrm>
          <a:prstGeom prst="ellipse">
            <a:avLst/>
          </a:prstGeom>
          <a:solidFill>
            <a:srgbClr val="0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07492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Apple SD Gothic Neo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37360" y="5097780"/>
            <a:ext cx="8686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600" b="0" i="0">
                <a:solidFill>
                  <a:srgbClr val="1A1A1A"/>
                </a:solidFill>
                <a:latin typeface="Apple SD Gothic Neo"/>
              </a:rPr>
              <a:t>판정과 권고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500055" y="164592"/>
            <a:ext cx="1280160" cy="274320"/>
          </a:xfrm>
          <a:prstGeom prst="rect">
            <a:avLst/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45775" y="164592"/>
            <a:ext cx="1188719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888888"/>
                </a:solidFill>
                <a:latin typeface="Apple SD Gothic Neo"/>
              </a:rPr>
              <a:t>캐시 킵얼라이브 검증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11480"/>
            <a:ext cx="1136873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2400" b="1" i="0">
                <a:solidFill>
                  <a:srgbClr val="1A1A1A"/>
                </a:solidFill>
                <a:latin typeface="Apple SD Gothic Neo"/>
              </a:rPr>
              <a:t>개념 ①: 프롬프트 캐시 — LLM이 매 턴 대화 전체를 다시 읽는 비용을 줄이는 장치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1051560"/>
            <a:ext cx="11368735" cy="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11480" y="6446520"/>
            <a:ext cx="11368735" cy="0"/>
          </a:xfrm>
          <a:prstGeom prst="line">
            <a:avLst/>
          </a:prstGeom>
          <a:ln w="63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1480" y="6492240"/>
            <a:ext cx="568436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900" b="0" i="0">
                <a:solidFill>
                  <a:srgbClr val="1A1A1A"/>
                </a:solidFill>
                <a:latin typeface="Apple SD Gothic Neo"/>
              </a:rPr>
              <a:t>가중 비용 배수는 Anthropic 프롬프트 캐싱 가격 모델 기준 (write 1.25x/2.0x, read 0.1x)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656831"/>
            <a:ext cx="568436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900" b="0" i="0">
                <a:solidFill>
                  <a:srgbClr val="1A1A1A"/>
                </a:solidFill>
                <a:latin typeface="Apple SD Gothic Neo"/>
              </a:rPr>
              <a:t>Source: xx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2615" y="6537959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buNone/>
            </a:pPr>
            <a:r>
              <a:rPr sz="900" b="0" i="0">
                <a:solidFill>
                  <a:srgbClr val="888888"/>
                </a:solidFill>
                <a:latin typeface="Apple SD Gothic Neo"/>
              </a:rPr>
              <a:t>ⓒ 2026 AX Labs   4</a:t>
            </a:r>
          </a:p>
        </p:txBody>
      </p:sp>
      <p:sp>
        <p:nvSpPr>
          <p:cNvPr id="10" name="Chevron 9"/>
          <p:cNvSpPr/>
          <p:nvPr/>
        </p:nvSpPr>
        <p:spPr>
          <a:xfrm>
            <a:off x="411480" y="1828800"/>
            <a:ext cx="3047923" cy="777240"/>
          </a:xfrm>
          <a:prstGeom prst="chevron">
            <a:avLst/>
          </a:prstGeom>
          <a:solidFill>
            <a:srgbClr val="0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76072" y="2025395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072" y="2025395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100" b="1" i="0">
                <a:solidFill>
                  <a:srgbClr val="0A1F3D"/>
                </a:solidFill>
                <a:latin typeface="Apple SD Gothic Neo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1828800"/>
            <a:ext cx="2160955" cy="7772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FFFFFF"/>
                </a:solidFill>
                <a:latin typeface="Apple SD Gothic Neo"/>
              </a:rPr>
              <a:t>프리픽스 재전송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788920"/>
            <a:ext cx="2682163" cy="329183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100" b="0" i="0">
                <a:solidFill>
                  <a:srgbClr val="1A1A1A"/>
                </a:solidFill>
                <a:latin typeface="Apple SD Gothic Neo"/>
              </a:rPr>
              <a:t>매 턴 LLM은 지금까지의 대화 전체(프리픽스)를 다시 입력으로 읽어야 함</a:t>
            </a:r>
          </a:p>
        </p:txBody>
      </p:sp>
      <p:sp>
        <p:nvSpPr>
          <p:cNvPr id="15" name="Chevron 14"/>
          <p:cNvSpPr/>
          <p:nvPr/>
        </p:nvSpPr>
        <p:spPr>
          <a:xfrm>
            <a:off x="3185083" y="1828800"/>
            <a:ext cx="3047923" cy="777240"/>
          </a:xfrm>
          <a:prstGeom prst="chevron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349675" y="2025395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49675" y="2025395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100" b="1" i="0">
                <a:solidFill>
                  <a:srgbClr val="2E9BD6"/>
                </a:solidFill>
                <a:latin typeface="Apple SD Gothic Neo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25163" y="1828800"/>
            <a:ext cx="2160955" cy="7772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FFFFFF"/>
                </a:solidFill>
                <a:latin typeface="Apple SD Gothic Neo"/>
              </a:rPr>
              <a:t>cache write (비쌈)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76523" y="2788920"/>
            <a:ext cx="2682163" cy="329183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100" b="0" i="0">
                <a:solidFill>
                  <a:srgbClr val="1A1A1A"/>
                </a:solidFill>
                <a:latin typeface="Apple SD Gothic Neo"/>
              </a:rPr>
              <a:t>처음 읽을 때 캐시에 저장 — 입력 토큰의 1.25x(5분)~2.0x(1시간) 가중 비용</a:t>
            </a:r>
          </a:p>
        </p:txBody>
      </p:sp>
      <p:sp>
        <p:nvSpPr>
          <p:cNvPr id="20" name="Chevron 19"/>
          <p:cNvSpPr/>
          <p:nvPr/>
        </p:nvSpPr>
        <p:spPr>
          <a:xfrm>
            <a:off x="5958687" y="1828800"/>
            <a:ext cx="3047923" cy="777240"/>
          </a:xfrm>
          <a:prstGeom prst="chevron">
            <a:avLst/>
          </a:prstGeom>
          <a:solidFill>
            <a:srgbClr val="0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123279" y="2025395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3279" y="2025395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100" b="1" i="0">
                <a:solidFill>
                  <a:srgbClr val="0A1F3D"/>
                </a:solidFill>
                <a:latin typeface="Apple SD Gothic Neo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98767" y="1828800"/>
            <a:ext cx="2160955" cy="7772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FFFFFF"/>
                </a:solidFill>
                <a:latin typeface="Apple SD Gothic Neo"/>
              </a:rPr>
              <a:t>cache read (쌈)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50127" y="2788920"/>
            <a:ext cx="2682163" cy="329183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100" b="0" i="0">
                <a:solidFill>
                  <a:srgbClr val="1A1A1A"/>
                </a:solidFill>
                <a:latin typeface="Apple SD Gothic Neo"/>
              </a:rPr>
              <a:t>이미 저장된 프리픽스를 재사용 — 입력 토큰의 0.1x, 즉 10분의 1</a:t>
            </a:r>
          </a:p>
        </p:txBody>
      </p:sp>
      <p:sp>
        <p:nvSpPr>
          <p:cNvPr id="25" name="Chevron 24"/>
          <p:cNvSpPr/>
          <p:nvPr/>
        </p:nvSpPr>
        <p:spPr>
          <a:xfrm>
            <a:off x="8732291" y="1828800"/>
            <a:ext cx="3047923" cy="777240"/>
          </a:xfrm>
          <a:prstGeom prst="chevron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896883" y="2025395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96883" y="2025395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100" b="1" i="0">
                <a:solidFill>
                  <a:srgbClr val="2E9BD6"/>
                </a:solidFill>
                <a:latin typeface="Apple SD Gothic Neo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72371" y="1828800"/>
            <a:ext cx="2160955" cy="7772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FFFFFF"/>
                </a:solidFill>
                <a:latin typeface="Apple SD Gothic Neo"/>
              </a:rPr>
              <a:t>TTL 만료 → 콜드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23731" y="2788920"/>
            <a:ext cx="2682163" cy="329183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100" b="0" i="0">
                <a:solidFill>
                  <a:srgbClr val="1A1A1A"/>
                </a:solidFill>
                <a:latin typeface="Apple SD Gothic Neo"/>
              </a:rPr>
              <a:t>유효시간(TTL)이 지나면 캐시가 사라짐 → 다시 비싼 write 발생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500055" y="164592"/>
            <a:ext cx="1280160" cy="274320"/>
          </a:xfrm>
          <a:prstGeom prst="rect">
            <a:avLst/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45775" y="164592"/>
            <a:ext cx="1188719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888888"/>
                </a:solidFill>
                <a:latin typeface="Apple SD Gothic Neo"/>
              </a:rPr>
              <a:t>캐시 킵얼라이브 검증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11480"/>
            <a:ext cx="1136873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2400" b="1" i="0">
                <a:solidFill>
                  <a:srgbClr val="1A1A1A"/>
                </a:solidFill>
                <a:latin typeface="Apple SD Gothic Neo"/>
              </a:rPr>
              <a:t>캐시가 '따뜻하다' vs '콜드'다 — 같은 대화를 이어가도 비용이 10배 이상 갈린다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1051560"/>
            <a:ext cx="11368735" cy="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11480" y="6446520"/>
            <a:ext cx="11368735" cy="0"/>
          </a:xfrm>
          <a:prstGeom prst="line">
            <a:avLst/>
          </a:prstGeom>
          <a:ln w="63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1480" y="6492240"/>
            <a:ext cx="568436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900" b="0" i="0">
                <a:solidFill>
                  <a:srgbClr val="1A1A1A"/>
                </a:solidFill>
                <a:latin typeface="Apple SD Gothic Neo"/>
              </a:rPr>
              <a:t>1. xx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656831"/>
            <a:ext cx="568436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900" b="0" i="0">
                <a:solidFill>
                  <a:srgbClr val="1A1A1A"/>
                </a:solidFill>
                <a:latin typeface="Apple SD Gothic Neo"/>
              </a:rPr>
              <a:t>Source: xx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2615" y="6537959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buNone/>
            </a:pPr>
            <a:r>
              <a:rPr sz="900" b="0" i="0">
                <a:solidFill>
                  <a:srgbClr val="888888"/>
                </a:solidFill>
                <a:latin typeface="Apple SD Gothic Neo"/>
              </a:rPr>
              <a:t>ⓒ 2026 AX Labs   5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371600"/>
            <a:ext cx="5272887" cy="502920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371600"/>
            <a:ext cx="5090007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600" b="1" i="0">
                <a:solidFill>
                  <a:srgbClr val="FFFFFF"/>
                </a:solidFill>
                <a:latin typeface="Apple SD Gothic Neo"/>
              </a:rPr>
              <a:t>따뜻한 캐시 (cache read)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1874519"/>
            <a:ext cx="5272887" cy="43891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011679"/>
            <a:ext cx="4907127" cy="4114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 indent="-228600" marL="228600">
              <a:spcAft>
                <a:spcPts val="4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Apple SD Gothic Neo"/>
              </a:rPr>
              <a:t>TTL이 아직 안 지나 프리픽스가 살아있음</a:t>
            </a:r>
          </a:p>
          <a:p>
            <a:pPr algn="l" indent="-228600" marL="228600">
              <a:spcAft>
                <a:spcPts val="4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Apple SD Gothic Neo"/>
              </a:rPr>
              <a:t>재사용 비용 = 입력 토큰 x 0.1 (싼 read)</a:t>
            </a:r>
          </a:p>
          <a:p>
            <a:pPr algn="l" indent="-228600" marL="228600">
              <a:spcAft>
                <a:spcPts val="4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Apple SD Gothic Neo"/>
              </a:rPr>
              <a:t>유휴(쉬는 구간)가 TTL보다 짧으면 자동으로 유지됨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07327" y="1371600"/>
            <a:ext cx="5272887" cy="502920"/>
          </a:xfrm>
          <a:prstGeom prst="rect">
            <a:avLst/>
          </a:prstGeom>
          <a:solidFill>
            <a:srgbClr val="F4C5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90207" y="1371600"/>
            <a:ext cx="5090007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600" b="1" i="0">
                <a:solidFill>
                  <a:srgbClr val="FFFFFF"/>
                </a:solidFill>
                <a:latin typeface="Apple SD Gothic Neo"/>
              </a:rPr>
              <a:t>콜드 캐시 (cache write 재발생)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07327" y="1874519"/>
            <a:ext cx="5272887" cy="43891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90207" y="2011679"/>
            <a:ext cx="4907127" cy="4114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 indent="-228600" marL="228600">
              <a:spcAft>
                <a:spcPts val="4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Apple SD Gothic Neo"/>
              </a:rPr>
              <a:t>TTL이 지나 프리픽스가 사라짐</a:t>
            </a:r>
          </a:p>
          <a:p>
            <a:pPr algn="l" indent="-228600" marL="228600">
              <a:spcAft>
                <a:spcPts val="4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Apple SD Gothic Neo"/>
              </a:rPr>
              <a:t>처음부터 다시 저장 = x1.25~x2.0 (비싼 write)</a:t>
            </a:r>
          </a:p>
          <a:p>
            <a:pPr algn="l" indent="-228600" marL="228600">
              <a:spcAft>
                <a:spcPts val="4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Apple SD Gothic Neo"/>
              </a:rPr>
              <a:t>유휴가 TTL보다 길 때만 발생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775807" y="3451860"/>
            <a:ext cx="640080" cy="731520"/>
          </a:xfrm>
          <a:prstGeom prst="rightArrow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500055" y="164592"/>
            <a:ext cx="1280160" cy="274320"/>
          </a:xfrm>
          <a:prstGeom prst="rect">
            <a:avLst/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45775" y="164592"/>
            <a:ext cx="1188719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888888"/>
                </a:solidFill>
                <a:latin typeface="Apple SD Gothic Neo"/>
              </a:rPr>
              <a:t>캐시 킵얼라이브 검증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11480"/>
            <a:ext cx="1136873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2400" b="1" i="0">
                <a:solidFill>
                  <a:srgbClr val="1A1A1A"/>
                </a:solidFill>
                <a:latin typeface="Apple SD Gothic Neo"/>
              </a:rPr>
              <a:t>개념 ②: 구독 과금 vs API 과금 — '무엇으로 비용이 닳는가'가 다르다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1051560"/>
            <a:ext cx="11368735" cy="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11480" y="6446520"/>
            <a:ext cx="11368735" cy="0"/>
          </a:xfrm>
          <a:prstGeom prst="line">
            <a:avLst/>
          </a:prstGeom>
          <a:ln w="63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1480" y="6492240"/>
            <a:ext cx="568436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900" b="0" i="0">
                <a:solidFill>
                  <a:srgbClr val="1A1A1A"/>
                </a:solidFill>
                <a:latin typeface="Apple SD Gothic Neo"/>
              </a:rPr>
              <a:t>이 차이가 플러그인의 가치를 가른다 — 구독에선 토큰을 아껴도 요청 쿼터가 별도로 닳는다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656831"/>
            <a:ext cx="568436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900" b="0" i="0">
                <a:solidFill>
                  <a:srgbClr val="1A1A1A"/>
                </a:solidFill>
                <a:latin typeface="Apple SD Gothic Neo"/>
              </a:rPr>
              <a:t>Source: xx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2615" y="6537959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buNone/>
            </a:pPr>
            <a:r>
              <a:rPr sz="900" b="0" i="0">
                <a:solidFill>
                  <a:srgbClr val="888888"/>
                </a:solidFill>
                <a:latin typeface="Apple SD Gothic Neo"/>
              </a:rPr>
              <a:t>ⓒ 2026 AX Labs   6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371600"/>
            <a:ext cx="5501487" cy="502920"/>
          </a:xfrm>
          <a:prstGeom prst="rect">
            <a:avLst/>
          </a:prstGeom>
          <a:solidFill>
            <a:srgbClr val="0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371600"/>
            <a:ext cx="5318607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600" b="1" i="0">
                <a:solidFill>
                  <a:srgbClr val="FFFFFF"/>
                </a:solidFill>
                <a:latin typeface="Apple SD Gothic Neo"/>
              </a:rPr>
              <a:t>구독 과금 (Claude Pro)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1874519"/>
            <a:ext cx="5501487" cy="43891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011679"/>
            <a:ext cx="5135727" cy="4114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 indent="-228600" marL="228600">
              <a:spcAft>
                <a:spcPts val="4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Apple SD Gothic Neo"/>
              </a:rPr>
              <a:t>5시간 롤링 윈도우의 '요청 수'로 청구</a:t>
            </a:r>
          </a:p>
          <a:p>
            <a:pPr algn="l" indent="-228600" marL="228600">
              <a:spcAft>
                <a:spcPts val="4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Apple SD Gothic Neo"/>
              </a:rPr>
              <a:t>토큰을 많이 써도 한 요청은 한 요청</a:t>
            </a:r>
          </a:p>
          <a:p>
            <a:pPr algn="l" indent="-228600" marL="228600">
              <a:spcAft>
                <a:spcPts val="4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Apple SD Gothic Neo"/>
              </a:rPr>
              <a:t>캐시로 토큰을 아껴도 요청 쿼터는 그대로 닳음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78727" y="1371600"/>
            <a:ext cx="5501487" cy="502920"/>
          </a:xfrm>
          <a:prstGeom prst="rect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1607" y="1371600"/>
            <a:ext cx="5318607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600" b="1" i="0">
                <a:solidFill>
                  <a:srgbClr val="FFFFFF"/>
                </a:solidFill>
                <a:latin typeface="Apple SD Gothic Neo"/>
              </a:rPr>
              <a:t>API 과금 (API 키)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78727" y="1874519"/>
            <a:ext cx="5501487" cy="43891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1607" y="2011679"/>
            <a:ext cx="5135727" cy="4114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 indent="-228600" marL="228600">
              <a:spcAft>
                <a:spcPts val="4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Apple SD Gothic Neo"/>
              </a:rPr>
              <a:t>실제 사용한 '토큰 비용'으로 청구</a:t>
            </a:r>
          </a:p>
          <a:p>
            <a:pPr algn="l" indent="-228600" marL="228600">
              <a:spcAft>
                <a:spcPts val="4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Apple SD Gothic Neo"/>
              </a:rPr>
              <a:t>토큰을 아끼면 곧바로 돈이 절약됨</a:t>
            </a:r>
          </a:p>
          <a:p>
            <a:pPr algn="l" indent="-228600" marL="228600">
              <a:spcAft>
                <a:spcPts val="4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Apple SD Gothic Neo"/>
              </a:rPr>
              <a:t>캐시 read(0.1x)가 직접적인 비용 절감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500055" y="164592"/>
            <a:ext cx="1280160" cy="274320"/>
          </a:xfrm>
          <a:prstGeom prst="rect">
            <a:avLst/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45775" y="164592"/>
            <a:ext cx="1188719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888888"/>
                </a:solidFill>
                <a:latin typeface="Apple SD Gothic Neo"/>
              </a:rPr>
              <a:t>캐시 킵얼라이브 검증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11480"/>
            <a:ext cx="1136873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2400" b="1" i="0">
                <a:solidFill>
                  <a:srgbClr val="1A1A1A"/>
                </a:solidFill>
                <a:latin typeface="Apple SD Gothic Neo"/>
              </a:rPr>
              <a:t>그래서 핵심 질문은 하나: 이 환경에서 캐시는 절약을 만드는가?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1051560"/>
            <a:ext cx="11368735" cy="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11480" y="6446520"/>
            <a:ext cx="11368735" cy="0"/>
          </a:xfrm>
          <a:prstGeom prst="line">
            <a:avLst/>
          </a:prstGeom>
          <a:ln w="63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122615" y="6537959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buNone/>
            </a:pPr>
            <a:r>
              <a:rPr sz="900" b="0" i="0">
                <a:solidFill>
                  <a:srgbClr val="888888"/>
                </a:solidFill>
                <a:latin typeface="Apple SD Gothic Neo"/>
              </a:rPr>
              <a:t>ⓒ 2026 AX Labs  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194560"/>
            <a:ext cx="11368735" cy="23774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0400" b="1" i="0">
                <a:solidFill>
                  <a:srgbClr val="0A1F3D"/>
                </a:solidFill>
                <a:latin typeface="Apple SD Gothic Neo"/>
              </a:rPr>
              <a:t>0.1x vs 1.25x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617720"/>
            <a:ext cx="11368735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buNone/>
            </a:pPr>
            <a:r>
              <a:rPr sz="2400" b="1" i="0">
                <a:solidFill>
                  <a:srgbClr val="2E9BD6"/>
                </a:solidFill>
                <a:latin typeface="Apple SD Gothic Neo"/>
              </a:rPr>
              <a:t>cache read 대 cache write의 가중 비용 배수 — 플러그인은 비싼 write를 싼 read로 바꿔 절약하려 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5349240"/>
            <a:ext cx="8534095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buNone/>
            </a:pPr>
            <a:r>
              <a:rPr sz="1400" b="0" i="0">
                <a:solidFill>
                  <a:srgbClr val="1A1A1A"/>
                </a:solidFill>
                <a:latin typeface="Apple SD Gothic Neo"/>
              </a:rPr>
              <a:t>단, 구독 과금에선 절약된 토큰이 '돈'이 아니라 '요청 쿼터'와 무관하다. 핑 한 번은 요청 한 장을 그대로 소모한다.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500055" y="164592"/>
            <a:ext cx="1280160" cy="274320"/>
          </a:xfrm>
          <a:prstGeom prst="rect">
            <a:avLst/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45775" y="164592"/>
            <a:ext cx="1188719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888888"/>
                </a:solidFill>
                <a:latin typeface="Apple SD Gothic Neo"/>
              </a:rPr>
              <a:t>캐시 킵얼라이브 검증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11480"/>
            <a:ext cx="1136873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2400" b="1" i="0">
                <a:solidFill>
                  <a:srgbClr val="1A1A1A"/>
                </a:solidFill>
                <a:latin typeface="Apple SD Gothic Neo"/>
              </a:rPr>
              <a:t>개념 ③: 이 실험이 알아내려던 세 가지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1051560"/>
            <a:ext cx="11368735" cy="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11480" y="6446520"/>
            <a:ext cx="11368735" cy="0"/>
          </a:xfrm>
          <a:prstGeom prst="line">
            <a:avLst/>
          </a:prstGeom>
          <a:ln w="63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122615" y="6537959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buNone/>
            </a:pPr>
            <a:r>
              <a:rPr sz="900" b="0" i="0">
                <a:solidFill>
                  <a:srgbClr val="888888"/>
                </a:solidFill>
                <a:latin typeface="Apple SD Gothic Neo"/>
              </a:rPr>
              <a:t>ⓒ 2026 AX Labs   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280160"/>
            <a:ext cx="11368735" cy="5074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sz="1300" b="1" i="0">
                <a:solidFill>
                  <a:srgbClr val="1A1A1A"/>
                </a:solidFill>
                <a:latin typeface="Apple SD Gothic Neo"/>
              </a:rPr>
              <a:t>이 환경의 실제 캐시 유효시간(TTL)은 몇 분인가</a:t>
            </a:r>
          </a:p>
          <a:p>
            <a:pPr algn="l" lvl="1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Apple SD Gothic Neo"/>
              </a:rPr>
              <a:t>플러그인은 '5분 TTL'을 전제로 핑을 보냄</a:t>
            </a:r>
          </a:p>
          <a:p>
            <a:pPr algn="l" lvl="1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Apple SD Gothic Neo"/>
              </a:rPr>
              <a:t>전사 로그에서 ephemeral_5m vs ephemeral_1h write를 분해해 확인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buNone/>
            </a:pPr>
            <a:r>
              <a:rPr sz="1300" b="1" i="0">
                <a:solidFill>
                  <a:srgbClr val="1A1A1A"/>
                </a:solidFill>
                <a:latin typeface="Apple SD Gothic Neo"/>
              </a:rPr>
              <a:t>7분 쉬면 캐시는 따뜻하게 살아남는가, 콜드가 되는가</a:t>
            </a:r>
          </a:p>
          <a:p>
            <a:pPr algn="l" lvl="1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Apple SD Gothic Neo"/>
              </a:rPr>
              <a:t>실제 벽시계 유휴 직후 첫 턴의 캐시 read/write를 측정</a:t>
            </a:r>
          </a:p>
          <a:p>
            <a:pPr algn="l" lvl="1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Apple SD Gothic Neo"/>
              </a:rPr>
              <a:t>유휴 경계(gap-boundary)에서 캐시 생존 여부를 직접 관찰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buNone/>
            </a:pPr>
            <a:r>
              <a:rPr sz="1300" b="1" i="0">
                <a:solidFill>
                  <a:srgbClr val="1A1A1A"/>
                </a:solidFill>
                <a:latin typeface="Apple SD Gothic Neo"/>
              </a:rPr>
              <a:t>플러그인이 캐시 히트율(CHR)을 실제로 끌어올리는가</a:t>
            </a:r>
          </a:p>
          <a:p>
            <a:pPr algn="l" lvl="1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Apple SD Gothic Neo"/>
              </a:rPr>
              <a:t>CHR = 캐시 read / (read + write), 1에 가까울수록 캐시 효율 좋음</a:t>
            </a:r>
          </a:p>
          <a:p>
            <a:pPr algn="l" lvl="1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Apple SD Gothic Neo"/>
              </a:rPr>
              <a:t>ON 암과 OFF 암의 CHR을 나란히 비교</a:t>
            </a:r>
          </a:p>
          <a:p>
            <a:pPr algn="l">
              <a:spcBef>
                <a:spcPts val="1400"/>
              </a:spcBef>
              <a:buNone/>
            </a:pPr>
            <a:r>
              <a:rPr sz="1300" b="1" i="0">
                <a:solidFill>
                  <a:srgbClr val="1A1A1A"/>
                </a:solidFill>
                <a:latin typeface="Apple SD Gothic Neo"/>
              </a:rPr>
              <a:t>요약하면: TTL이 정말 5분인지, 7분 유휴로 콜드가 되는지, 플러그인이 효과가 있는지를 실측으로 확인한다.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500055" y="164592"/>
            <a:ext cx="1280160" cy="274320"/>
          </a:xfrm>
          <a:prstGeom prst="rect">
            <a:avLst/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45775" y="164592"/>
            <a:ext cx="1188719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888888"/>
                </a:solidFill>
                <a:latin typeface="Apple SD Gothic Neo"/>
              </a:rPr>
              <a:t>캐시 킵얼라이브 검증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11480"/>
            <a:ext cx="1136873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2400" b="1" i="0">
                <a:solidFill>
                  <a:srgbClr val="1A1A1A"/>
                </a:solidFill>
                <a:latin typeface="Apple SD Gothic Neo"/>
              </a:rPr>
              <a:t>동일 베이스라인, 실제 벽시계 유휴로 구성한 5개 라이브 암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1051560"/>
            <a:ext cx="11368735" cy="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11480" y="6446520"/>
            <a:ext cx="11368735" cy="0"/>
          </a:xfrm>
          <a:prstGeom prst="line">
            <a:avLst/>
          </a:prstGeom>
          <a:ln w="63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1480" y="6492240"/>
            <a:ext cx="568436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900" b="0" i="0">
                <a:solidFill>
                  <a:srgbClr val="1A1A1A"/>
                </a:solidFill>
                <a:latin typeface="Apple SD Gothic Neo"/>
              </a:rPr>
              <a:t>HEAD 분기 워크트리에서 편집 폐기, 전사 JSONL로 턴별 토큰 파싱 (Claude 비결정성 유의)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656831"/>
            <a:ext cx="568436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900" b="0" i="0">
                <a:solidFill>
                  <a:srgbClr val="1A1A1A"/>
                </a:solidFill>
                <a:latin typeface="Apple SD Gothic Neo"/>
              </a:rPr>
              <a:t>Source: xx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2615" y="6537959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buNone/>
            </a:pPr>
            <a:r>
              <a:rPr sz="900" b="0" i="0">
                <a:solidFill>
                  <a:srgbClr val="888888"/>
                </a:solidFill>
                <a:latin typeface="Apple SD Gothic Neo"/>
              </a:rPr>
              <a:t>ⓒ 2026 AX Labs  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188720"/>
            <a:ext cx="11368735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200" b="0" i="0">
                <a:solidFill>
                  <a:srgbClr val="1A1A1A"/>
                </a:solidFill>
                <a:latin typeface="Apple SD Gothic Neo"/>
              </a:rPr>
              <a:t>워크로드 2종 × 플러그인 ON/OFF + 70분 TTL 탐침 암 1종 (각 암 n=1)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331720"/>
            <a:ext cx="2185964" cy="39319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2331720"/>
            <a:ext cx="2185964" cy="457200"/>
          </a:xfrm>
          <a:prstGeom prst="rect">
            <a:avLst/>
          </a:prstGeom>
          <a:solidFill>
            <a:srgbClr val="0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331720"/>
            <a:ext cx="2003084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FFFFFF"/>
                </a:solidFill>
                <a:latin typeface="Apple SD Gothic Neo"/>
              </a:rPr>
              <a:t>wlA-off</a:t>
            </a:r>
          </a:p>
        </p:txBody>
      </p:sp>
      <p:sp>
        <p:nvSpPr>
          <p:cNvPr id="14" name="Oval 13"/>
          <p:cNvSpPr/>
          <p:nvPr/>
        </p:nvSpPr>
        <p:spPr>
          <a:xfrm>
            <a:off x="1312438" y="1874519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12438" y="1874519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200" b="1" i="0">
                <a:solidFill>
                  <a:srgbClr val="0A1F3D"/>
                </a:solidFill>
                <a:latin typeface="Apple SD Gothic Neo"/>
              </a:rPr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834639"/>
            <a:ext cx="2003084" cy="338327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 indent="-228600" marL="228600">
              <a:spcAft>
                <a:spcPts val="200"/>
              </a:spcAft>
              <a:buChar char="•"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워크로드 A · TS API JSDoc</a:t>
            </a:r>
          </a:p>
          <a:p>
            <a:pPr algn="l" indent="-228600" marL="228600">
              <a:spcAft>
                <a:spcPts val="200"/>
              </a:spcAft>
              <a:buChar char="•"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플러그인 OFF</a:t>
            </a:r>
          </a:p>
          <a:p>
            <a:pPr algn="l" indent="-228600" marL="228600">
              <a:spcAft>
                <a:spcPts val="200"/>
              </a:spcAft>
              <a:buChar char="•"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7분 유휴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07172" y="2331720"/>
            <a:ext cx="2185964" cy="39319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07172" y="2331720"/>
            <a:ext cx="2185964" cy="457200"/>
          </a:xfrm>
          <a:prstGeom prst="rect">
            <a:avLst/>
          </a:prstGeom>
          <a:solidFill>
            <a:srgbClr val="0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98612" y="2331720"/>
            <a:ext cx="2003084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FFFFFF"/>
                </a:solidFill>
                <a:latin typeface="Apple SD Gothic Neo"/>
              </a:rPr>
              <a:t>wlA-on</a:t>
            </a:r>
          </a:p>
        </p:txBody>
      </p:sp>
      <p:sp>
        <p:nvSpPr>
          <p:cNvPr id="20" name="Oval 19"/>
          <p:cNvSpPr/>
          <p:nvPr/>
        </p:nvSpPr>
        <p:spPr>
          <a:xfrm>
            <a:off x="3608130" y="1874519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08130" y="1874519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200" b="1" i="0">
                <a:solidFill>
                  <a:srgbClr val="0A1F3D"/>
                </a:solidFill>
                <a:latin typeface="Apple SD Gothic Neo"/>
              </a:rPr>
              <a:t>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98612" y="2834639"/>
            <a:ext cx="2003084" cy="338327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 indent="-228600" marL="228600">
              <a:spcAft>
                <a:spcPts val="200"/>
              </a:spcAft>
              <a:buChar char="•"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워크로드 A · TS API JSDoc</a:t>
            </a:r>
          </a:p>
          <a:p>
            <a:pPr algn="l" indent="-228600" marL="228600">
              <a:spcAft>
                <a:spcPts val="200"/>
              </a:spcAft>
              <a:buChar char="•"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플러그인 ON</a:t>
            </a:r>
          </a:p>
          <a:p>
            <a:pPr algn="l" indent="-228600" marL="228600">
              <a:spcAft>
                <a:spcPts val="200"/>
              </a:spcAft>
              <a:buChar char="•"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7분 유휴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2865" y="2331720"/>
            <a:ext cx="2185964" cy="39319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02865" y="2331720"/>
            <a:ext cx="2185964" cy="457200"/>
          </a:xfrm>
          <a:prstGeom prst="rect">
            <a:avLst/>
          </a:prstGeom>
          <a:solidFill>
            <a:srgbClr val="0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94305" y="2331720"/>
            <a:ext cx="2003084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FFFFFF"/>
                </a:solidFill>
                <a:latin typeface="Apple SD Gothic Neo"/>
              </a:rPr>
              <a:t>wlB-off</a:t>
            </a:r>
          </a:p>
        </p:txBody>
      </p:sp>
      <p:sp>
        <p:nvSpPr>
          <p:cNvPr id="26" name="Oval 25"/>
          <p:cNvSpPr/>
          <p:nvPr/>
        </p:nvSpPr>
        <p:spPr>
          <a:xfrm>
            <a:off x="5903823" y="1874519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03823" y="1874519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200" b="1" i="0">
                <a:solidFill>
                  <a:srgbClr val="0A1F3D"/>
                </a:solidFill>
                <a:latin typeface="Apple SD Gothic Neo"/>
              </a:rPr>
              <a:t>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94305" y="2834639"/>
            <a:ext cx="2003084" cy="338327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 indent="-228600" marL="228600">
              <a:spcAft>
                <a:spcPts val="200"/>
              </a:spcAft>
              <a:buChar char="•"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워크로드 B · Python 오류경로</a:t>
            </a:r>
          </a:p>
          <a:p>
            <a:pPr algn="l" indent="-228600" marL="228600">
              <a:spcAft>
                <a:spcPts val="200"/>
              </a:spcAft>
              <a:buChar char="•"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플러그인 OFF</a:t>
            </a:r>
          </a:p>
          <a:p>
            <a:pPr algn="l" indent="-228600" marL="228600">
              <a:spcAft>
                <a:spcPts val="200"/>
              </a:spcAft>
              <a:buChar char="•"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7분 유휴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298557" y="2331720"/>
            <a:ext cx="2185964" cy="39319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298557" y="2331720"/>
            <a:ext cx="2185964" cy="457200"/>
          </a:xfrm>
          <a:prstGeom prst="rect">
            <a:avLst/>
          </a:prstGeom>
          <a:solidFill>
            <a:srgbClr val="0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89997" y="2331720"/>
            <a:ext cx="2003084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FFFFFF"/>
                </a:solidFill>
                <a:latin typeface="Apple SD Gothic Neo"/>
              </a:rPr>
              <a:t>wlB-on</a:t>
            </a:r>
          </a:p>
        </p:txBody>
      </p:sp>
      <p:sp>
        <p:nvSpPr>
          <p:cNvPr id="32" name="Oval 31"/>
          <p:cNvSpPr/>
          <p:nvPr/>
        </p:nvSpPr>
        <p:spPr>
          <a:xfrm>
            <a:off x="8199516" y="1874519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99516" y="1874519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200" b="1" i="0">
                <a:solidFill>
                  <a:srgbClr val="0A1F3D"/>
                </a:solidFill>
                <a:latin typeface="Apple SD Gothic Neo"/>
              </a:rPr>
              <a:t>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89997" y="2834639"/>
            <a:ext cx="2003084" cy="338327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 indent="-228600" marL="228600">
              <a:spcAft>
                <a:spcPts val="200"/>
              </a:spcAft>
              <a:buChar char="•"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워크로드 B · Python 오류경로</a:t>
            </a:r>
          </a:p>
          <a:p>
            <a:pPr algn="l" indent="-228600" marL="228600">
              <a:spcAft>
                <a:spcPts val="200"/>
              </a:spcAft>
              <a:buChar char="•"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플러그인 ON</a:t>
            </a:r>
          </a:p>
          <a:p>
            <a:pPr algn="l" indent="-228600" marL="228600">
              <a:spcAft>
                <a:spcPts val="200"/>
              </a:spcAft>
              <a:buChar char="•"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7분 유휴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594250" y="2331720"/>
            <a:ext cx="2185964" cy="39319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94250" y="2331720"/>
            <a:ext cx="2185964" cy="457200"/>
          </a:xfrm>
          <a:prstGeom prst="rect">
            <a:avLst/>
          </a:prstGeom>
          <a:solidFill>
            <a:srgbClr val="0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85690" y="2331720"/>
            <a:ext cx="2003084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FFFFFF"/>
                </a:solidFill>
                <a:latin typeface="Apple SD Gothic Neo"/>
              </a:rPr>
              <a:t>ttl-long</a:t>
            </a:r>
          </a:p>
        </p:txBody>
      </p:sp>
      <p:sp>
        <p:nvSpPr>
          <p:cNvPr id="38" name="Oval 37"/>
          <p:cNvSpPr/>
          <p:nvPr/>
        </p:nvSpPr>
        <p:spPr>
          <a:xfrm>
            <a:off x="10495208" y="1874519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495208" y="1874519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200" b="1" i="0">
                <a:solidFill>
                  <a:srgbClr val="0A1F3D"/>
                </a:solidFill>
                <a:latin typeface="Apple SD Gothic Neo"/>
              </a:rPr>
              <a:t>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85690" y="2834639"/>
            <a:ext cx="2003084" cy="338327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 indent="-228600" marL="228600">
              <a:spcAft>
                <a:spcPts val="200"/>
              </a:spcAft>
              <a:buChar char="•"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TTL 한계 탐침</a:t>
            </a:r>
          </a:p>
          <a:p>
            <a:pPr algn="l" indent="-228600" marL="228600">
              <a:spcAft>
                <a:spcPts val="200"/>
              </a:spcAft>
              <a:buChar char="•"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플러그인 OFF</a:t>
            </a:r>
          </a:p>
          <a:p>
            <a:pPr algn="l" indent="-228600" marL="228600">
              <a:spcAft>
                <a:spcPts val="200"/>
              </a:spcAft>
              <a:buChar char="•"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70분 단일 유휴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1480" y="5486399"/>
            <a:ext cx="2194560" cy="640080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" y="5486399"/>
            <a:ext cx="2011679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100" b="0" i="0">
                <a:solidFill>
                  <a:srgbClr val="FFFFFF"/>
                </a:solidFill>
                <a:latin typeface="Apple SD Gothic Neo"/>
              </a:rPr>
              <a:t>각 암 = 일회용 워크트리 · n=1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500055" y="164592"/>
            <a:ext cx="1280160" cy="274320"/>
          </a:xfrm>
          <a:prstGeom prst="rect">
            <a:avLst/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45775" y="164592"/>
            <a:ext cx="1188719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888888"/>
                </a:solidFill>
                <a:latin typeface="Apple SD Gothic Neo"/>
              </a:rPr>
              <a:t>캐시 킵얼라이브 검증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11480"/>
            <a:ext cx="1136873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2400" b="1" i="0">
                <a:solidFill>
                  <a:srgbClr val="1A1A1A"/>
                </a:solidFill>
                <a:latin typeface="Apple SD Gothic Neo"/>
              </a:rPr>
              <a:t>이 숫자들은 어떻게 모았나 — 토큰 사용량은 Anthropic 서버가 응답마다 직접 돌려준다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1051560"/>
            <a:ext cx="11368735" cy="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11480" y="6446520"/>
            <a:ext cx="11368735" cy="0"/>
          </a:xfrm>
          <a:prstGeom prst="line">
            <a:avLst/>
          </a:prstGeom>
          <a:ln w="63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1480" y="6492240"/>
            <a:ext cx="568436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900" b="0" i="0">
                <a:solidFill>
                  <a:srgbClr val="1A1A1A"/>
                </a:solidFill>
                <a:latin typeface="Apple SD Gothic Neo"/>
              </a:rPr>
              <a:t>핵심 수치(ephemeral_5m=0, ephemeral_1h=100%)는 서버가 직접 내려준 값이라 'TTL=1시간' 근거가 반박 불가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656831"/>
            <a:ext cx="568436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900" b="0" i="0">
                <a:solidFill>
                  <a:srgbClr val="1A1A1A"/>
                </a:solidFill>
                <a:latin typeface="Apple SD Gothic Neo"/>
              </a:rPr>
              <a:t>Source: xx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2615" y="6537959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buNone/>
            </a:pPr>
            <a:r>
              <a:rPr sz="900" b="0" i="0">
                <a:solidFill>
                  <a:srgbClr val="888888"/>
                </a:solidFill>
                <a:latin typeface="Apple SD Gothic Neo"/>
              </a:rPr>
              <a:t>ⓒ 2026 AX Labs   10</a:t>
            </a:r>
          </a:p>
        </p:txBody>
      </p:sp>
      <p:sp>
        <p:nvSpPr>
          <p:cNvPr id="10" name="Chevron 9"/>
          <p:cNvSpPr/>
          <p:nvPr/>
        </p:nvSpPr>
        <p:spPr>
          <a:xfrm>
            <a:off x="411480" y="1828800"/>
            <a:ext cx="3047923" cy="777240"/>
          </a:xfrm>
          <a:prstGeom prst="chevron">
            <a:avLst/>
          </a:prstGeom>
          <a:solidFill>
            <a:srgbClr val="0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76072" y="2025395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072" y="2025395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100" b="1" i="0">
                <a:solidFill>
                  <a:srgbClr val="0A1F3D"/>
                </a:solidFill>
                <a:latin typeface="Apple SD Gothic Neo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1828800"/>
            <a:ext cx="2160955" cy="7772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FFFFFF"/>
                </a:solidFill>
                <a:latin typeface="Apple SD Gothic Neo"/>
              </a:rPr>
              <a:t>서버가 usage 반환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788920"/>
            <a:ext cx="2682163" cy="329183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100" b="0" i="0">
                <a:solidFill>
                  <a:srgbClr val="1A1A1A"/>
                </a:solidFill>
                <a:latin typeface="Apple SD Gothic Neo"/>
              </a:rPr>
              <a:t>매 응답에 cache_read·cache_write·ephemeral_5m/1h·output 토큰 수가 포함됨 (추정이 아닌 실측치)</a:t>
            </a:r>
          </a:p>
        </p:txBody>
      </p:sp>
      <p:sp>
        <p:nvSpPr>
          <p:cNvPr id="15" name="Chevron 14"/>
          <p:cNvSpPr/>
          <p:nvPr/>
        </p:nvSpPr>
        <p:spPr>
          <a:xfrm>
            <a:off x="3185083" y="1828800"/>
            <a:ext cx="3047923" cy="777240"/>
          </a:xfrm>
          <a:prstGeom prst="chevron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349675" y="2025395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49675" y="2025395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100" b="1" i="0">
                <a:solidFill>
                  <a:srgbClr val="2E9BD6"/>
                </a:solidFill>
                <a:latin typeface="Apple SD Gothic Neo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25163" y="1828800"/>
            <a:ext cx="2160955" cy="7772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FFFFFF"/>
                </a:solidFill>
                <a:latin typeface="Apple SD Gothic Neo"/>
              </a:rPr>
              <a:t>전사 JSONL 기록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76523" y="2788920"/>
            <a:ext cx="2682163" cy="329183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100" b="0" i="0">
                <a:solidFill>
                  <a:srgbClr val="1A1A1A"/>
                </a:solidFill>
                <a:latin typeface="Apple SD Gothic Neo"/>
              </a:rPr>
              <a:t>Claude Code가 세션 대화를 ~/.claude/projects/.../&lt;세션&gt;.jsonl에 메시지 단위로 저장</a:t>
            </a:r>
          </a:p>
        </p:txBody>
      </p:sp>
      <p:sp>
        <p:nvSpPr>
          <p:cNvPr id="20" name="Chevron 19"/>
          <p:cNvSpPr/>
          <p:nvPr/>
        </p:nvSpPr>
        <p:spPr>
          <a:xfrm>
            <a:off x="5958687" y="1828800"/>
            <a:ext cx="3047923" cy="777240"/>
          </a:xfrm>
          <a:prstGeom prst="chevron">
            <a:avLst/>
          </a:prstGeom>
          <a:solidFill>
            <a:srgbClr val="0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123279" y="2025395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3279" y="2025395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100" b="1" i="0">
                <a:solidFill>
                  <a:srgbClr val="0A1F3D"/>
                </a:solidFill>
                <a:latin typeface="Apple SD Gothic Neo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98767" y="1828800"/>
            <a:ext cx="2160955" cy="7772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FFFFFF"/>
                </a:solidFill>
                <a:latin typeface="Apple SD Gothic Neo"/>
              </a:rPr>
              <a:t>파서로 턴별 추출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50127" y="2788920"/>
            <a:ext cx="2682163" cy="329183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100" b="0" i="0">
                <a:solidFill>
                  <a:srgbClr val="1A1A1A"/>
                </a:solidFill>
                <a:latin typeface="Apple SD Gothic Neo"/>
              </a:rPr>
              <a:t>harness/parse-usage.py가 어시스턴트 턴마다 usage를 읽고 real/keepalive로 분류</a:t>
            </a:r>
          </a:p>
        </p:txBody>
      </p:sp>
      <p:sp>
        <p:nvSpPr>
          <p:cNvPr id="25" name="Chevron 24"/>
          <p:cNvSpPr/>
          <p:nvPr/>
        </p:nvSpPr>
        <p:spPr>
          <a:xfrm>
            <a:off x="8732291" y="1828800"/>
            <a:ext cx="3047923" cy="777240"/>
          </a:xfrm>
          <a:prstGeom prst="chevron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896883" y="2025395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96883" y="2025395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100" b="1" i="0">
                <a:solidFill>
                  <a:srgbClr val="2E9BD6"/>
                </a:solidFill>
                <a:latin typeface="Apple SD Gothic Neo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72371" y="1828800"/>
            <a:ext cx="2160955" cy="7772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FFFFFF"/>
                </a:solidFill>
                <a:latin typeface="Apple SD Gothic Neo"/>
              </a:rPr>
              <a:t>암별 집계·교차검증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23731" y="2788920"/>
            <a:ext cx="2682163" cy="329183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100" b="0" i="0">
                <a:solidFill>
                  <a:srgbClr val="1A1A1A"/>
                </a:solidFill>
                <a:latin typeface="Apple SD Gothic Neo"/>
              </a:rPr>
              <a:t>CHR·CWT로 합산하고 jq로 원본 전사 합계와 대조해 일치 확인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500055" y="164592"/>
            <a:ext cx="1280160" cy="274320"/>
          </a:xfrm>
          <a:prstGeom prst="rect">
            <a:avLst/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45775" y="164592"/>
            <a:ext cx="1188719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888888"/>
                </a:solidFill>
                <a:latin typeface="Apple SD Gothic Neo"/>
              </a:rPr>
              <a:t>캐시 킵얼라이브 검증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11480"/>
            <a:ext cx="1136873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2400" b="1" i="0">
                <a:solidFill>
                  <a:srgbClr val="1A1A1A"/>
                </a:solidFill>
                <a:latin typeface="Apple SD Gothic Neo"/>
              </a:rPr>
              <a:t>7분 유휴는 캐시를 따뜻하게 유지, 70분 유휴만 콜드로 전환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1051560"/>
            <a:ext cx="11368735" cy="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11480" y="6446520"/>
            <a:ext cx="11368735" cy="0"/>
          </a:xfrm>
          <a:prstGeom prst="line">
            <a:avLst/>
          </a:prstGeom>
          <a:ln w="63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1480" y="6492240"/>
            <a:ext cx="568436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900" b="0" i="0">
                <a:solidFill>
                  <a:srgbClr val="1A1A1A"/>
                </a:solidFill>
                <a:latin typeface="Apple SD Gothic Neo"/>
              </a:rPr>
              <a:t>1. xx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656831"/>
            <a:ext cx="568436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900" b="0" i="0">
                <a:solidFill>
                  <a:srgbClr val="1A1A1A"/>
                </a:solidFill>
                <a:latin typeface="Apple SD Gothic Neo"/>
              </a:rPr>
              <a:t>Source: gap-boundary.csv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2615" y="6537959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buNone/>
            </a:pPr>
            <a:r>
              <a:rPr sz="900" b="0" i="0">
                <a:solidFill>
                  <a:srgbClr val="888888"/>
                </a:solidFill>
                <a:latin typeface="Apple SD Gothic Neo"/>
              </a:rPr>
              <a:t>ⓒ 2026 AX Labs  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280160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400" b="1" i="0">
                <a:solidFill>
                  <a:srgbClr val="1A1A1A"/>
                </a:solidFill>
                <a:latin typeface="Apple SD Gothic Neo"/>
              </a:rPr>
              <a:t>유휴(쉬는 구간) 직후 첫 실턴에서 읽힌 캐시 read 토큰과 새로 쓴 write 토큰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11480" y="1600200"/>
            <a:ext cx="7772399" cy="0"/>
          </a:xfrm>
          <a:prstGeom prst="line">
            <a:avLst/>
          </a:prstGeom>
          <a:ln w="63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11480" y="178308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r>
              <a:rPr sz="1400" b="1">
                <a:solidFill>
                  <a:srgbClr val="1A1A1A"/>
                </a:solidFill>
                <a:latin typeface="Apple SD Gothic Neo"/>
              </a:rPr>
              <a:t>캐시 토큰, </a:t>
            </a:r>
            <a:r>
              <a:rPr sz="1400">
                <a:solidFill>
                  <a:srgbClr val="BFBFBF"/>
                </a:solidFill>
                <a:latin typeface="Apple SD Gothic Neo"/>
              </a:rPr>
              <a:t>천 토큰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94575" y="1783080"/>
            <a:ext cx="1243584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캐시 write (재작성·비쌈)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47687" y="1828800"/>
            <a:ext cx="201168" cy="137160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13247" y="1783080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캐시 read (재사용·쌈)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66359" y="1828800"/>
            <a:ext cx="201168" cy="137160"/>
          </a:xfrm>
          <a:prstGeom prst="rect">
            <a:avLst/>
          </a:prstGeom>
          <a:solidFill>
            <a:srgbClr val="0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914400" y="5715000"/>
            <a:ext cx="717804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11480" y="562356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0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14400" y="5372100"/>
            <a:ext cx="717804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11480" y="528066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5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14400" y="5029200"/>
            <a:ext cx="717804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11480" y="493776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10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14400" y="4686300"/>
            <a:ext cx="717804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11480" y="459486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15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14400" y="4343400"/>
            <a:ext cx="717804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411480" y="425196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20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14400" y="4000500"/>
            <a:ext cx="717804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11480" y="390906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25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14400" y="3657600"/>
            <a:ext cx="717804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11480" y="356616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30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14400" y="3314700"/>
            <a:ext cx="717804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11480" y="322326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35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14400" y="2971800"/>
            <a:ext cx="717804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411480" y="288036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40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14400" y="2628900"/>
            <a:ext cx="717804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411480" y="253746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45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14400" y="2286000"/>
            <a:ext cx="717804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411480" y="219456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50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20768" y="5715000"/>
            <a:ext cx="484517" cy="0"/>
          </a:xfrm>
          <a:prstGeom prst="rect">
            <a:avLst/>
          </a:prstGeom>
          <a:solidFill>
            <a:srgbClr val="0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659121" y="3993641"/>
            <a:ext cx="484517" cy="1721358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521961" y="3737609"/>
            <a:ext cx="758837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b">
            <a:spAutoFit/>
          </a:bodyPr>
          <a:lstStyle/>
          <a:p>
            <a:pPr algn="ctr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25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" y="5788152"/>
            <a:ext cx="1527048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ttl-long(70분)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556376" y="3184398"/>
            <a:ext cx="484517" cy="2530602"/>
          </a:xfrm>
          <a:prstGeom prst="rect">
            <a:avLst/>
          </a:prstGeom>
          <a:solidFill>
            <a:srgbClr val="0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419216" y="2928365"/>
            <a:ext cx="758837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b">
            <a:spAutoFit/>
          </a:bodyPr>
          <a:lstStyle/>
          <a:p>
            <a:pPr algn="ctr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37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094729" y="5715000"/>
            <a:ext cx="484517" cy="0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304288" y="5788152"/>
            <a:ext cx="1527048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wlA-off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991984" y="3266694"/>
            <a:ext cx="484517" cy="2448306"/>
          </a:xfrm>
          <a:prstGeom prst="rect">
            <a:avLst/>
          </a:prstGeom>
          <a:solidFill>
            <a:srgbClr val="0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854824" y="3010661"/>
            <a:ext cx="758837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b">
            <a:spAutoFit/>
          </a:bodyPr>
          <a:lstStyle/>
          <a:p>
            <a:pPr algn="ctr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36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30337" y="5708142"/>
            <a:ext cx="484517" cy="6858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739896" y="5788152"/>
            <a:ext cx="1527048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wlA-on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427592" y="2711196"/>
            <a:ext cx="484517" cy="3003803"/>
          </a:xfrm>
          <a:prstGeom prst="rect">
            <a:avLst/>
          </a:prstGeom>
          <a:solidFill>
            <a:srgbClr val="0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290432" y="2455164"/>
            <a:ext cx="758837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b">
            <a:spAutoFit/>
          </a:bodyPr>
          <a:lstStyle/>
          <a:p>
            <a:pPr algn="ctr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44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965945" y="5625846"/>
            <a:ext cx="484517" cy="89154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828785" y="5369814"/>
            <a:ext cx="758837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b">
            <a:spAutoFit/>
          </a:bodyPr>
          <a:lstStyle/>
          <a:p>
            <a:pPr algn="ctr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175503" y="5788152"/>
            <a:ext cx="1527048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wlB-off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863200" y="2608326"/>
            <a:ext cx="484517" cy="3106673"/>
          </a:xfrm>
          <a:prstGeom prst="rect">
            <a:avLst/>
          </a:prstGeom>
          <a:solidFill>
            <a:srgbClr val="0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726040" y="2352294"/>
            <a:ext cx="758837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b">
            <a:spAutoFit/>
          </a:bodyPr>
          <a:lstStyle/>
          <a:p>
            <a:pPr algn="ctr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45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401553" y="5708142"/>
            <a:ext cx="484517" cy="6858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611112" y="5788152"/>
            <a:ext cx="1527048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wlB-on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8503920" y="1783080"/>
            <a:ext cx="0" cy="4434840"/>
          </a:xfrm>
          <a:prstGeom prst="line">
            <a:avLst/>
          </a:prstGeom>
          <a:ln w="635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8641080" y="1737360"/>
            <a:ext cx="31546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400" b="1" i="0">
                <a:solidFill>
                  <a:srgbClr val="1A1A1A"/>
                </a:solidFill>
                <a:latin typeface="Apple SD Gothic Neo"/>
              </a:rPr>
              <a:t>핵심 시사점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8641080" y="2057400"/>
            <a:ext cx="3154679" cy="0"/>
          </a:xfrm>
          <a:prstGeom prst="line">
            <a:avLst/>
          </a:prstGeom>
          <a:ln w="63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8641080" y="2286000"/>
            <a:ext cx="3154680" cy="3931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 indent="-228600" marL="228600">
              <a:spcAft>
                <a:spcPts val="10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Apple SD Gothic Neo"/>
              </a:rPr>
              <a:t>ttl-long만 read 0 · write 25,134 — 캐시가 사라져 완전 재작성</a:t>
            </a:r>
          </a:p>
          <a:p>
            <a:pPr algn="l" indent="-228600" marL="228600">
              <a:spcAft>
                <a:spcPts val="10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Apple SD Gothic Neo"/>
              </a:rPr>
              <a:t>7분 4개 암은 read가 우세 → 캐시가 그대로 살아있었음</a:t>
            </a:r>
          </a:p>
          <a:p>
            <a:pPr algn="l" indent="-228600" marL="228600">
              <a:spcAft>
                <a:spcPts val="10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Apple SD Gothic Neo"/>
              </a:rPr>
              <a:t>즉 실제 TTL은 7분보다 길고 70분보다 짧음 (문서상 1시간과 일치)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500055" y="164592"/>
            <a:ext cx="1280160" cy="274320"/>
          </a:xfrm>
          <a:prstGeom prst="rect">
            <a:avLst/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45775" y="164592"/>
            <a:ext cx="1188719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888888"/>
                </a:solidFill>
                <a:latin typeface="Apple SD Gothic Neo"/>
              </a:rPr>
              <a:t>캐시 킵얼라이브 검증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11480"/>
            <a:ext cx="1136873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2400" b="1" i="0">
                <a:solidFill>
                  <a:srgbClr val="1A1A1A"/>
                </a:solidFill>
                <a:latin typeface="Apple SD Gothic Neo"/>
              </a:rPr>
              <a:t>약 150턴 동안 '5분 캐시'에 쓴 토큰은 단 한 개도 없었다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1051560"/>
            <a:ext cx="11368735" cy="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11480" y="6446520"/>
            <a:ext cx="11368735" cy="0"/>
          </a:xfrm>
          <a:prstGeom prst="line">
            <a:avLst/>
          </a:prstGeom>
          <a:ln w="63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122615" y="6537959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buNone/>
            </a:pPr>
            <a:r>
              <a:rPr sz="900" b="0" i="0">
                <a:solidFill>
                  <a:srgbClr val="888888"/>
                </a:solidFill>
                <a:latin typeface="Apple SD Gothic Neo"/>
              </a:rPr>
              <a:t>ⓒ 2026 AX Labs  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194560"/>
            <a:ext cx="11368735" cy="23774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0400" b="1" i="0">
                <a:solidFill>
                  <a:srgbClr val="0A1F3D"/>
                </a:solidFill>
                <a:latin typeface="Apple SD Gothic Neo"/>
              </a:rPr>
              <a:t>100%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617720"/>
            <a:ext cx="11368735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buNone/>
            </a:pPr>
            <a:r>
              <a:rPr sz="2400" b="1" i="0">
                <a:solidFill>
                  <a:srgbClr val="2E9BD6"/>
                </a:solidFill>
                <a:latin typeface="Apple SD Gothic Neo"/>
              </a:rPr>
              <a:t>ephemeral_1h(1시간 TTL)를 사용한 write 토큰 비중 — 총 466,136개 전부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5349240"/>
            <a:ext cx="8534095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buNone/>
            </a:pPr>
            <a:r>
              <a:rPr sz="1400" b="0" i="0">
                <a:solidFill>
                  <a:srgbClr val="1A1A1A"/>
                </a:solidFill>
                <a:latin typeface="Apple SD Gothic Neo"/>
              </a:rPr>
              <a:t>ephemeral_5m(5분 TTL) write = 0개. 플러그인이 격파하려는 '5분 TTL'은 이 환경에 아예 존재하지 않는다.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500055" y="164592"/>
            <a:ext cx="1280160" cy="274320"/>
          </a:xfrm>
          <a:prstGeom prst="rect">
            <a:avLst/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45775" y="164592"/>
            <a:ext cx="1188719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888888"/>
                </a:solidFill>
                <a:latin typeface="Apple SD Gothic Neo"/>
              </a:rPr>
              <a:t>캐시 킵얼라이브 검증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11480"/>
            <a:ext cx="1136873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2400" b="1" i="0">
                <a:solidFill>
                  <a:srgbClr val="1A1A1A"/>
                </a:solidFill>
                <a:latin typeface="Apple SD Gothic Neo"/>
              </a:rPr>
              <a:t>따뜻한 암은 캐시 히트율 89~95%, 콜드 70분 암만 56%로 붕괴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1051560"/>
            <a:ext cx="11368735" cy="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11480" y="6446520"/>
            <a:ext cx="11368735" cy="0"/>
          </a:xfrm>
          <a:prstGeom prst="line">
            <a:avLst/>
          </a:prstGeom>
          <a:ln w="63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1480" y="6492240"/>
            <a:ext cx="568436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900" b="0" i="0">
                <a:solidFill>
                  <a:srgbClr val="1A1A1A"/>
                </a:solidFill>
                <a:latin typeface="Apple SD Gothic Neo"/>
              </a:rPr>
              <a:t>1. xx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656831"/>
            <a:ext cx="568436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900" b="0" i="0">
                <a:solidFill>
                  <a:srgbClr val="1A1A1A"/>
                </a:solidFill>
                <a:latin typeface="Apple SD Gothic Neo"/>
              </a:rPr>
              <a:t>Source: kpis.csv (CHR)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2615" y="6537959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buNone/>
            </a:pPr>
            <a:r>
              <a:rPr sz="900" b="0" i="0">
                <a:solidFill>
                  <a:srgbClr val="888888"/>
                </a:solidFill>
                <a:latin typeface="Apple SD Gothic Neo"/>
              </a:rPr>
              <a:t>ⓒ 2026 AX Labs  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280160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400" b="1" i="0">
                <a:solidFill>
                  <a:srgbClr val="1A1A1A"/>
                </a:solidFill>
                <a:latin typeface="Apple SD Gothic Neo"/>
              </a:rPr>
              <a:t>캐시 히트율(CHR) = 캐시 read / (read + write) · 1에 가까울수록 캐시가 잘 재사용됨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11480" y="1600200"/>
            <a:ext cx="7772399" cy="0"/>
          </a:xfrm>
          <a:prstGeom prst="line">
            <a:avLst/>
          </a:prstGeom>
          <a:ln w="63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11480" y="178308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r>
              <a:rPr sz="1400" b="1">
                <a:solidFill>
                  <a:srgbClr val="1A1A1A"/>
                </a:solidFill>
                <a:latin typeface="Apple SD Gothic Neo"/>
              </a:rPr>
              <a:t>캐시 히트율, </a:t>
            </a:r>
            <a:r>
              <a:rPr sz="1400">
                <a:solidFill>
                  <a:srgbClr val="BFBFBF"/>
                </a:solidFill>
                <a:latin typeface="Apple SD Gothic Neo"/>
              </a:rPr>
              <a:t>%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14400" y="5715000"/>
            <a:ext cx="717804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11480" y="562356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0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14400" y="5372100"/>
            <a:ext cx="717804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11480" y="528066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10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14400" y="5029200"/>
            <a:ext cx="717804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11480" y="493776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20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14400" y="4686300"/>
            <a:ext cx="717804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11480" y="459486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30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14400" y="4343400"/>
            <a:ext cx="717804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11480" y="425196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40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14400" y="4000500"/>
            <a:ext cx="717804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11480" y="390906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50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14400" y="3657600"/>
            <a:ext cx="717804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411480" y="356616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60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14400" y="3314700"/>
            <a:ext cx="717804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11480" y="322326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70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14400" y="2971800"/>
            <a:ext cx="717804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11480" y="288036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80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14400" y="2628900"/>
            <a:ext cx="717804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11480" y="253746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90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14400" y="2286000"/>
            <a:ext cx="717804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411480" y="219456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100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201521" y="2471166"/>
            <a:ext cx="861364" cy="3243834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18641" y="2196846"/>
            <a:ext cx="1227124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b">
            <a:spAutoFit/>
          </a:bodyPr>
          <a:lstStyle/>
          <a:p>
            <a:pPr algn="ctr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95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" y="5788152"/>
            <a:ext cx="1527048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wlA-off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637129" y="2608326"/>
            <a:ext cx="861364" cy="3106673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454249" y="2334006"/>
            <a:ext cx="1227124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b">
            <a:spAutoFit/>
          </a:bodyPr>
          <a:lstStyle/>
          <a:p>
            <a:pPr algn="ctr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91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304288" y="5788152"/>
            <a:ext cx="1527048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wlB-on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072737" y="2615184"/>
            <a:ext cx="861364" cy="3099816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889857" y="2340864"/>
            <a:ext cx="1227124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b">
            <a:spAutoFit/>
          </a:bodyPr>
          <a:lstStyle/>
          <a:p>
            <a:pPr algn="ctr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90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739896" y="5788152"/>
            <a:ext cx="1527048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wlA-on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508345" y="2659761"/>
            <a:ext cx="861364" cy="3055238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325465" y="2385441"/>
            <a:ext cx="1227124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b">
            <a:spAutoFit/>
          </a:bodyPr>
          <a:lstStyle/>
          <a:p>
            <a:pPr algn="ctr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89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75503" y="5788152"/>
            <a:ext cx="1527048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wlB-off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943953" y="3794760"/>
            <a:ext cx="861364" cy="1920240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761073" y="3520440"/>
            <a:ext cx="1227124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b">
            <a:spAutoFit/>
          </a:bodyPr>
          <a:lstStyle/>
          <a:p>
            <a:pPr algn="ctr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56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11112" y="5788152"/>
            <a:ext cx="1527048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ttl-long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8503920" y="1783080"/>
            <a:ext cx="0" cy="4434840"/>
          </a:xfrm>
          <a:prstGeom prst="line">
            <a:avLst/>
          </a:prstGeom>
          <a:ln w="635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8641080" y="1737360"/>
            <a:ext cx="31546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400" b="1" i="0">
                <a:solidFill>
                  <a:srgbClr val="1A1A1A"/>
                </a:solidFill>
                <a:latin typeface="Apple SD Gothic Neo"/>
              </a:rPr>
              <a:t>핵심 시사점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8641080" y="2057400"/>
            <a:ext cx="3154679" cy="0"/>
          </a:xfrm>
          <a:prstGeom prst="line">
            <a:avLst/>
          </a:prstGeom>
          <a:ln w="63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8641080" y="2286000"/>
            <a:ext cx="3154680" cy="3931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 indent="-228600" marL="228600">
              <a:spcAft>
                <a:spcPts val="10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Apple SD Gothic Neo"/>
              </a:rPr>
              <a:t>플러그인 ON(90.4%)과 OFF(94.6%)가 사실상 동일</a:t>
            </a:r>
          </a:p>
          <a:p>
            <a:pPr algn="l" indent="-228600" marL="228600">
              <a:spcAft>
                <a:spcPts val="10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Apple SD Gothic Neo"/>
              </a:rPr>
              <a:t>ON·OFF 차이는 캐시 효과가 아니라 워크로드 노이즈</a:t>
            </a:r>
          </a:p>
          <a:p>
            <a:pPr algn="l" indent="-228600" marL="228600">
              <a:spcAft>
                <a:spcPts val="10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Apple SD Gothic Neo"/>
              </a:rPr>
              <a:t>즉 플러그인은 캐시 히트율을 끌어올리지 못함</a:t>
            </a:r>
          </a:p>
          <a:p>
            <a:pPr algn="l" indent="-228600" marL="228600">
              <a:spcAft>
                <a:spcPts val="10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Apple SD Gothic Neo"/>
              </a:rPr>
              <a:t>콜드 암(ttl-long)만 유일하게 56%로 급락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500055" y="164592"/>
            <a:ext cx="1280160" cy="274320"/>
          </a:xfrm>
          <a:prstGeom prst="rect">
            <a:avLst/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45775" y="164592"/>
            <a:ext cx="1188719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888888"/>
                </a:solidFill>
                <a:latin typeface="Apple SD Gothic Neo"/>
              </a:rPr>
              <a:t>캐시 킵얼라이브 검증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11480"/>
            <a:ext cx="1136873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2400" b="1" i="0">
                <a:solidFill>
                  <a:srgbClr val="1A1A1A"/>
                </a:solidFill>
                <a:latin typeface="Apple SD Gothic Neo"/>
              </a:rPr>
              <a:t>플러그인은 작동은 한다 — 다만 값싼 read 한 번을 보낼 뿐, 콜드가 없어 무의미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1051560"/>
            <a:ext cx="11368735" cy="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11480" y="6446520"/>
            <a:ext cx="11368735" cy="0"/>
          </a:xfrm>
          <a:prstGeom prst="line">
            <a:avLst/>
          </a:prstGeom>
          <a:ln w="63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1480" y="6492240"/>
            <a:ext cx="568436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900" b="0" i="0">
                <a:solidFill>
                  <a:srgbClr val="1A1A1A"/>
                </a:solidFill>
                <a:latin typeface="Apple SD Gothic Neo"/>
              </a:rPr>
              <a:t>핑은 정상 작동하지만 이미 따뜻한 캐시를 한 번 더 데우는 것이라 절약이 0이다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656831"/>
            <a:ext cx="568436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900" b="0" i="0">
                <a:solidFill>
                  <a:srgbClr val="1A1A1A"/>
                </a:solidFill>
                <a:latin typeface="Apple SD Gothic Neo"/>
              </a:rPr>
              <a:t>Source: xx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2615" y="6537959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buNone/>
            </a:pPr>
            <a:r>
              <a:rPr sz="900" b="0" i="0">
                <a:solidFill>
                  <a:srgbClr val="888888"/>
                </a:solidFill>
                <a:latin typeface="Apple SD Gothic Neo"/>
              </a:rPr>
              <a:t>ⓒ 2026 AX Labs  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371600"/>
            <a:ext cx="5501487" cy="502920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371600"/>
            <a:ext cx="5318607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600" b="1" i="0">
                <a:solidFill>
                  <a:srgbClr val="FFFFFF"/>
                </a:solidFill>
                <a:latin typeface="Apple SD Gothic Neo"/>
              </a:rPr>
              <a:t>wlA-on · t27 킵얼라이브 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1874519"/>
            <a:ext cx="5501487" cy="43891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011679"/>
            <a:ext cx="5135727" cy="4114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 indent="-228600" marL="228600">
              <a:spcAft>
                <a:spcPts val="4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Apple SD Gothic Neo"/>
              </a:rPr>
              <a:t>캐시 read 35,691 토큰 (이미 따뜻한 캐시를 읽음)</a:t>
            </a:r>
          </a:p>
          <a:p>
            <a:pPr algn="l" indent="-228600" marL="228600">
              <a:spcAft>
                <a:spcPts val="4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Apple SD Gothic Neo"/>
              </a:rPr>
              <a:t>캐시 write 25 토큰 (거의 0)</a:t>
            </a:r>
          </a:p>
          <a:p>
            <a:pPr algn="l" indent="-228600" marL="228600">
              <a:spcAft>
                <a:spcPts val="4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Apple SD Gothic Neo"/>
              </a:rPr>
              <a:t>출력 22 토큰 — 0.1x 값싼 read 한 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78727" y="1371600"/>
            <a:ext cx="5501487" cy="502920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1607" y="1371600"/>
            <a:ext cx="5318607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600" b="1" i="0">
                <a:solidFill>
                  <a:srgbClr val="FFFFFF"/>
                </a:solidFill>
                <a:latin typeface="Apple SD Gothic Neo"/>
              </a:rPr>
              <a:t>wlB-on · t28 킵얼라이브 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78727" y="1874519"/>
            <a:ext cx="5501487" cy="43891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1607" y="2011679"/>
            <a:ext cx="5135727" cy="4114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 indent="-228600" marL="228600">
              <a:spcAft>
                <a:spcPts val="4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Apple SD Gothic Neo"/>
              </a:rPr>
              <a:t>캐시 read 44,355 토큰 (이미 따뜻한 캐시를 읽음)</a:t>
            </a:r>
          </a:p>
          <a:p>
            <a:pPr algn="l" indent="-228600" marL="228600">
              <a:spcAft>
                <a:spcPts val="4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Apple SD Gothic Neo"/>
              </a:rPr>
              <a:t>캐시 write 909 토큰 (거의 0)</a:t>
            </a:r>
          </a:p>
          <a:p>
            <a:pPr algn="l" indent="-228600" marL="228600">
              <a:spcAft>
                <a:spcPts val="4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Apple SD Gothic Neo"/>
              </a:rPr>
              <a:t>출력 54 토큰 — 0.1x 값싼 read 한 번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500055" y="164592"/>
            <a:ext cx="1280160" cy="274320"/>
          </a:xfrm>
          <a:prstGeom prst="rect">
            <a:avLst/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45775" y="164592"/>
            <a:ext cx="1188719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888888"/>
                </a:solidFill>
                <a:latin typeface="Apple SD Gothic Neo"/>
              </a:rPr>
              <a:t>캐시 킵얼라이브 검증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11480"/>
            <a:ext cx="1136873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2400" b="1" i="0">
                <a:solidFill>
                  <a:srgbClr val="1A1A1A"/>
                </a:solidFill>
                <a:latin typeface="Apple SD Gothic Neo"/>
              </a:rPr>
              <a:t>만약 5분 TTL·API 과금이었다면 유휴당 약 41,000 가중 토큰을 아꼈을 것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1051560"/>
            <a:ext cx="11368735" cy="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11480" y="6446520"/>
            <a:ext cx="11368735" cy="0"/>
          </a:xfrm>
          <a:prstGeom prst="line">
            <a:avLst/>
          </a:prstGeom>
          <a:ln w="63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1480" y="6492240"/>
            <a:ext cx="568436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900" b="0" i="0">
                <a:solidFill>
                  <a:srgbClr val="1A1A1A"/>
                </a:solidFill>
                <a:latin typeface="Apple SD Gothic Neo"/>
              </a:rPr>
              <a:t>1. xx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656831"/>
            <a:ext cx="568436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900" b="0" i="0">
                <a:solidFill>
                  <a:srgbClr val="1A1A1A"/>
                </a:solidFill>
                <a:latin typeface="Apple SD Gothic Neo"/>
              </a:rPr>
              <a:t>Source: counterfactual-5min-ttl.csv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2615" y="6537959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buNone/>
            </a:pPr>
            <a:r>
              <a:rPr sz="900" b="0" i="0">
                <a:solidFill>
                  <a:srgbClr val="888888"/>
                </a:solidFill>
                <a:latin typeface="Apple SD Gothic Neo"/>
              </a:rPr>
              <a:t>ⓒ 2026 AX Labs   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280160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400" b="1" i="0">
                <a:solidFill>
                  <a:srgbClr val="1A1A1A"/>
                </a:solidFill>
                <a:latin typeface="Apple SD Gothic Neo"/>
              </a:rPr>
              <a:t>약 36k 프리픽스 기준 — 유휴 한 번당 발생하는 가중 토큰 (반사실 시나리오)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11480" y="1600200"/>
            <a:ext cx="7772399" cy="0"/>
          </a:xfrm>
          <a:prstGeom prst="line">
            <a:avLst/>
          </a:prstGeom>
          <a:ln w="63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11480" y="178308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r>
              <a:rPr sz="1400" b="1">
                <a:solidFill>
                  <a:srgbClr val="1A1A1A"/>
                </a:solidFill>
                <a:latin typeface="Apple SD Gothic Neo"/>
              </a:rPr>
              <a:t>가중 토큰, </a:t>
            </a:r>
            <a:r>
              <a:rPr sz="1400">
                <a:solidFill>
                  <a:srgbClr val="BFBFBF"/>
                </a:solidFill>
                <a:latin typeface="Apple SD Gothic Neo"/>
              </a:rPr>
              <a:t>천 토큰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1783080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가중 토큰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51192" y="1828800"/>
            <a:ext cx="201168" cy="137160"/>
          </a:xfrm>
          <a:prstGeom prst="rect">
            <a:avLst/>
          </a:prstGeom>
          <a:solidFill>
            <a:srgbClr val="0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914400" y="5715000"/>
            <a:ext cx="717804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11480" y="562356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0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14400" y="5372100"/>
            <a:ext cx="717804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11480" y="528066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5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14400" y="5029200"/>
            <a:ext cx="717804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11480" y="493776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10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14400" y="4686300"/>
            <a:ext cx="717804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11480" y="459486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15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14400" y="4343400"/>
            <a:ext cx="717804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11480" y="425196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20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14400" y="4000500"/>
            <a:ext cx="717804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411480" y="390906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25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14400" y="3657600"/>
            <a:ext cx="717804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11480" y="356616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30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14400" y="3314700"/>
            <a:ext cx="717804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11480" y="322326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35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14400" y="2971800"/>
            <a:ext cx="717804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11480" y="288036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40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14400" y="2628900"/>
            <a:ext cx="717804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411480" y="253746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45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14400" y="2286000"/>
            <a:ext cx="717804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411480" y="219456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50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497615" y="2628900"/>
            <a:ext cx="2422588" cy="3086100"/>
          </a:xfrm>
          <a:prstGeom prst="rect">
            <a:avLst/>
          </a:prstGeom>
          <a:solidFill>
            <a:srgbClr val="0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360455" y="2372868"/>
            <a:ext cx="2696908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b">
            <a:spAutoFit/>
          </a:bodyPr>
          <a:lstStyle/>
          <a:p>
            <a:pPr algn="ctr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45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" y="5788152"/>
            <a:ext cx="3680459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콜드 재작성(플러그인 없음)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86635" y="5468112"/>
            <a:ext cx="2422588" cy="246888"/>
          </a:xfrm>
          <a:prstGeom prst="rect">
            <a:avLst/>
          </a:prstGeom>
          <a:solidFill>
            <a:srgbClr val="0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49475" y="5212080"/>
            <a:ext cx="2696908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b">
            <a:spAutoFit/>
          </a:bodyPr>
          <a:lstStyle/>
          <a:p>
            <a:pPr algn="ctr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57700" y="5788152"/>
            <a:ext cx="3680459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킵얼라이브 read(플러그인)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8503920" y="1783080"/>
            <a:ext cx="0" cy="4434840"/>
          </a:xfrm>
          <a:prstGeom prst="line">
            <a:avLst/>
          </a:prstGeom>
          <a:ln w="635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8641080" y="1737360"/>
            <a:ext cx="31546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400" b="1" i="0">
                <a:solidFill>
                  <a:srgbClr val="1A1A1A"/>
                </a:solidFill>
                <a:latin typeface="Apple SD Gothic Neo"/>
              </a:rPr>
              <a:t>반사실 시나리오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8641080" y="2057400"/>
            <a:ext cx="3154679" cy="0"/>
          </a:xfrm>
          <a:prstGeom prst="line">
            <a:avLst/>
          </a:prstGeom>
          <a:ln w="63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8641080" y="2286000"/>
            <a:ext cx="3154680" cy="3931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 indent="-228600" marL="228600">
              <a:spcAft>
                <a:spcPts val="10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Apple SD Gothic Neo"/>
              </a:rPr>
              <a:t>콜드 재작성 = 36k x 1.25 ≈ 45,000 가중 토큰</a:t>
            </a:r>
          </a:p>
          <a:p>
            <a:pPr algn="l" indent="-228600" marL="228600">
              <a:spcAft>
                <a:spcPts val="10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Apple SD Gothic Neo"/>
              </a:rPr>
              <a:t>킵얼라이브 read = 36k x 0.10 ≈ 3,600 가중 토큰</a:t>
            </a:r>
          </a:p>
          <a:p>
            <a:pPr algn="l" indent="-228600" marL="228600">
              <a:spcAft>
                <a:spcPts val="10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Apple SD Gothic Neo"/>
              </a:rPr>
              <a:t>유휴당 절약 약 41,400 — 단, 요청은 +1회 추가</a:t>
            </a:r>
          </a:p>
          <a:p>
            <a:pPr algn="l" indent="-228600" marL="228600">
              <a:spcAft>
                <a:spcPts val="10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Apple SD Gothic Neo"/>
              </a:rPr>
              <a:t>Aider·Cline류 환경에선 유효하나, 여기선 레버가 연결돼 있지 않음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500055" y="164592"/>
            <a:ext cx="1280160" cy="274320"/>
          </a:xfrm>
          <a:prstGeom prst="rect">
            <a:avLst/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45775" y="164592"/>
            <a:ext cx="1188719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888888"/>
                </a:solidFill>
                <a:latin typeface="Apple SD Gothic Neo"/>
              </a:rPr>
              <a:t>캐시 킵얼라이브 검증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11480"/>
            <a:ext cx="1136873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2400" b="1" i="0">
                <a:solidFill>
                  <a:srgbClr val="1A1A1A"/>
                </a:solidFill>
                <a:latin typeface="Apple SD Gothic Neo"/>
              </a:rPr>
              <a:t>토큰 비용(API)은 거의 안 움직이고, 요청 비용(구독)은 오르기만 한다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1051560"/>
            <a:ext cx="11368735" cy="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11480" y="6446520"/>
            <a:ext cx="11368735" cy="0"/>
          </a:xfrm>
          <a:prstGeom prst="line">
            <a:avLst/>
          </a:prstGeom>
          <a:ln w="63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1480" y="6492240"/>
            <a:ext cx="568436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900" b="0" i="0">
                <a:solidFill>
                  <a:srgbClr val="1A1A1A"/>
                </a:solidFill>
                <a:latin typeface="Apple SD Gothic Neo"/>
              </a:rPr>
              <a:t>1. xx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656831"/>
            <a:ext cx="568436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900" b="0" i="0">
                <a:solidFill>
                  <a:srgbClr val="1A1A1A"/>
                </a:solidFill>
                <a:latin typeface="Apple SD Gothic Neo"/>
              </a:rPr>
              <a:t>Source: xx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2615" y="6537959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buNone/>
            </a:pPr>
            <a:r>
              <a:rPr sz="900" b="0" i="0">
                <a:solidFill>
                  <a:srgbClr val="888888"/>
                </a:solidFill>
                <a:latin typeface="Apple SD Gothic Neo"/>
              </a:rPr>
              <a:t>ⓒ 2026 AX Labs   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371600"/>
            <a:ext cx="11368735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200" b="0" i="0">
                <a:solidFill>
                  <a:srgbClr val="BFBFBF"/>
                </a:solidFill>
                <a:latin typeface="Apple SD Gothic Neo"/>
              </a:rPr>
              <a:t>환경·유휴 조건별 플러그인 판정 (Harvey-ball: 채울수록 유리)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737360"/>
            <a:ext cx="2194560" cy="5029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737360"/>
            <a:ext cx="2011679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1A1A1A"/>
                </a:solidFill>
                <a:latin typeface="Apple SD Gothic Neo"/>
              </a:rPr>
              <a:t>Criteria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06040" y="1737360"/>
            <a:ext cx="4587087" cy="502920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97480" y="1737360"/>
            <a:ext cx="4404207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Apple SD Gothic Neo"/>
              </a:rPr>
              <a:t>플러그인 없음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93127" y="1737360"/>
            <a:ext cx="4587087" cy="502920"/>
          </a:xfrm>
          <a:prstGeom prst="rect">
            <a:avLst/>
          </a:prstGeom>
          <a:solidFill>
            <a:srgbClr val="0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84567" y="1737360"/>
            <a:ext cx="4404207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Apple SD Gothic Neo"/>
              </a:rPr>
              <a:t>플러그인 사용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06040" y="2240280"/>
            <a:ext cx="9174175" cy="13106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2240280"/>
            <a:ext cx="2011679" cy="1310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1A1A1A"/>
                </a:solidFill>
                <a:latin typeface="Apple SD Gothic Neo"/>
              </a:rPr>
              <a:t>이 환경(1h TTL)·7분 유휴</a:t>
            </a:r>
          </a:p>
        </p:txBody>
      </p:sp>
      <p:sp>
        <p:nvSpPr>
          <p:cNvPr id="19" name="Oval 18"/>
          <p:cNvSpPr/>
          <p:nvPr/>
        </p:nvSpPr>
        <p:spPr>
          <a:xfrm>
            <a:off x="4693843" y="2689860"/>
            <a:ext cx="411480" cy="4114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693843" y="2689860"/>
            <a:ext cx="411480" cy="411480"/>
          </a:xfrm>
          <a:prstGeom prst="ellipse">
            <a:avLst/>
          </a:prstGeom>
          <a:solidFill>
            <a:srgbClr val="0A1F3D"/>
          </a:solidFill>
          <a:ln w="12700">
            <a:solidFill>
              <a:srgbClr val="0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280931" y="2689860"/>
            <a:ext cx="411480" cy="4114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280931" y="2689860"/>
            <a:ext cx="411480" cy="411480"/>
          </a:xfrm>
          <a:prstGeom prst="ellipse">
            <a:avLst/>
          </a:prstGeom>
          <a:solidFill>
            <a:srgbClr val="0A1F3D"/>
          </a:solidFill>
          <a:ln w="12700">
            <a:solidFill>
              <a:srgbClr val="0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486671" y="2685288"/>
            <a:ext cx="210312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276359" y="2895600"/>
            <a:ext cx="210312" cy="2148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280931" y="2689860"/>
            <a:ext cx="411480" cy="411480"/>
          </a:xfrm>
          <a:prstGeom prst="ellipse">
            <a:avLst/>
          </a:prstGeom>
          <a:noFill/>
          <a:ln w="12700">
            <a:solidFill>
              <a:srgbClr val="0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411480" y="3550920"/>
            <a:ext cx="11368735" cy="0"/>
          </a:xfrm>
          <a:prstGeom prst="line">
            <a:avLst/>
          </a:prstGeom>
          <a:ln w="508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02920" y="3550920"/>
            <a:ext cx="2011679" cy="1310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1A1A1A"/>
                </a:solidFill>
                <a:latin typeface="Apple SD Gothic Neo"/>
              </a:rPr>
              <a:t>가상 5분 TTL·7분 유휴</a:t>
            </a:r>
          </a:p>
        </p:txBody>
      </p:sp>
      <p:sp>
        <p:nvSpPr>
          <p:cNvPr id="28" name="Oval 27"/>
          <p:cNvSpPr/>
          <p:nvPr/>
        </p:nvSpPr>
        <p:spPr>
          <a:xfrm>
            <a:off x="4693843" y="4000500"/>
            <a:ext cx="411480" cy="4114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693843" y="4000500"/>
            <a:ext cx="411480" cy="411480"/>
          </a:xfrm>
          <a:prstGeom prst="ellipse">
            <a:avLst/>
          </a:prstGeom>
          <a:solidFill>
            <a:srgbClr val="0A1F3D"/>
          </a:solidFill>
          <a:ln w="12700">
            <a:solidFill>
              <a:srgbClr val="0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899583" y="3995928"/>
            <a:ext cx="210312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689271" y="4206240"/>
            <a:ext cx="210312" cy="2148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693843" y="4000500"/>
            <a:ext cx="411480" cy="411480"/>
          </a:xfrm>
          <a:prstGeom prst="ellipse">
            <a:avLst/>
          </a:prstGeom>
          <a:noFill/>
          <a:ln w="12700">
            <a:solidFill>
              <a:srgbClr val="0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280931" y="4000500"/>
            <a:ext cx="411480" cy="4114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280931" y="4000500"/>
            <a:ext cx="411480" cy="411480"/>
          </a:xfrm>
          <a:prstGeom prst="ellipse">
            <a:avLst/>
          </a:prstGeom>
          <a:solidFill>
            <a:srgbClr val="0A1F3D"/>
          </a:solidFill>
          <a:ln w="12700">
            <a:solidFill>
              <a:srgbClr val="0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>
            <a:off x="411480" y="4861560"/>
            <a:ext cx="11368735" cy="0"/>
          </a:xfrm>
          <a:prstGeom prst="line">
            <a:avLst/>
          </a:prstGeom>
          <a:ln w="508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2606040" y="4861560"/>
            <a:ext cx="9174175" cy="13106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4861560"/>
            <a:ext cx="2011679" cy="1310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1A1A1A"/>
                </a:solidFill>
                <a:latin typeface="Apple SD Gothic Neo"/>
              </a:rPr>
              <a:t>이 환경·1시간 초과 유휴</a:t>
            </a:r>
          </a:p>
        </p:txBody>
      </p:sp>
      <p:sp>
        <p:nvSpPr>
          <p:cNvPr id="38" name="Oval 37"/>
          <p:cNvSpPr/>
          <p:nvPr/>
        </p:nvSpPr>
        <p:spPr>
          <a:xfrm>
            <a:off x="4693843" y="5311140"/>
            <a:ext cx="411480" cy="4114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4693843" y="5311140"/>
            <a:ext cx="411480" cy="411480"/>
          </a:xfrm>
          <a:prstGeom prst="ellipse">
            <a:avLst/>
          </a:prstGeom>
          <a:solidFill>
            <a:srgbClr val="0A1F3D"/>
          </a:solidFill>
          <a:ln w="12700">
            <a:solidFill>
              <a:srgbClr val="0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899583" y="5306568"/>
            <a:ext cx="210312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4693843" y="5311140"/>
            <a:ext cx="411480" cy="411480"/>
          </a:xfrm>
          <a:prstGeom prst="ellipse">
            <a:avLst/>
          </a:prstGeom>
          <a:noFill/>
          <a:ln w="12700">
            <a:solidFill>
              <a:srgbClr val="0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9280931" y="5311140"/>
            <a:ext cx="411480" cy="4114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9280931" y="5311140"/>
            <a:ext cx="411480" cy="411480"/>
          </a:xfrm>
          <a:prstGeom prst="ellipse">
            <a:avLst/>
          </a:prstGeom>
          <a:solidFill>
            <a:srgbClr val="0A1F3D"/>
          </a:solidFill>
          <a:ln w="12700">
            <a:solidFill>
              <a:srgbClr val="0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486671" y="5306568"/>
            <a:ext cx="210312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9280931" y="5311140"/>
            <a:ext cx="411480" cy="411480"/>
          </a:xfrm>
          <a:prstGeom prst="ellipse">
            <a:avLst/>
          </a:prstGeom>
          <a:noFill/>
          <a:ln w="12700">
            <a:solidFill>
              <a:srgbClr val="0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" name="Connector 45"/>
          <p:cNvCxnSpPr/>
          <p:nvPr/>
        </p:nvCxnSpPr>
        <p:spPr>
          <a:xfrm>
            <a:off x="411480" y="6172200"/>
            <a:ext cx="11368735" cy="0"/>
          </a:xfrm>
          <a:prstGeom prst="line">
            <a:avLst/>
          </a:prstGeom>
          <a:ln w="508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2606040" y="6217920"/>
            <a:ext cx="4587087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buNone/>
            </a:pPr>
            <a:r>
              <a:rPr sz="1000" b="1" i="0">
                <a:solidFill>
                  <a:srgbClr val="2E9BD6"/>
                </a:solidFill>
                <a:latin typeface="Apple SD Gothic Neo"/>
              </a:rPr>
              <a:t>★ Recommended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500055" y="164592"/>
            <a:ext cx="1280160" cy="274320"/>
          </a:xfrm>
          <a:prstGeom prst="rect">
            <a:avLst/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45775" y="164592"/>
            <a:ext cx="1188719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888888"/>
                </a:solidFill>
                <a:latin typeface="Apple SD Gothic Neo"/>
              </a:rPr>
              <a:t>캐시 킵얼라이브 검증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11480"/>
            <a:ext cx="1136873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2400" b="1" i="0">
                <a:solidFill>
                  <a:srgbClr val="1A1A1A"/>
                </a:solidFill>
                <a:latin typeface="Apple SD Gothic Neo"/>
              </a:rPr>
              <a:t>여기선 플러그인을 끈 채로 — 과금·TTL이 바뀔 때만 재검토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1051560"/>
            <a:ext cx="11368735" cy="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11480" y="6446520"/>
            <a:ext cx="11368735" cy="0"/>
          </a:xfrm>
          <a:prstGeom prst="line">
            <a:avLst/>
          </a:prstGeom>
          <a:ln w="63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122615" y="6537959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buNone/>
            </a:pPr>
            <a:r>
              <a:rPr sz="900" b="0" i="0">
                <a:solidFill>
                  <a:srgbClr val="888888"/>
                </a:solidFill>
                <a:latin typeface="Apple SD Gothic Neo"/>
              </a:rPr>
              <a:t>ⓒ 2026 AX Labs   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280160"/>
            <a:ext cx="11368735" cy="5074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sz="1300" b="1" i="0">
                <a:solidFill>
                  <a:srgbClr val="1A1A1A"/>
                </a:solidFill>
                <a:latin typeface="Apple SD Gothic Neo"/>
              </a:rPr>
              <a:t>실행: 이 구독 설치에서 cache-keepalive 비활성 유지</a:t>
            </a:r>
          </a:p>
          <a:p>
            <a:pPr algn="l" lvl="1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Apple SD Gothic Neo"/>
              </a:rPr>
              <a:t>현재 1시간 TTL에서는 순수 오버헤드 (절약 0)</a:t>
            </a:r>
          </a:p>
          <a:p>
            <a:pPr algn="l" lvl="1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Apple SD Gothic Neo"/>
              </a:rPr>
              <a:t>7분 유휴는 그 자체로 캐시를 따뜻하게 유지함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buNone/>
            </a:pPr>
            <a:r>
              <a:rPr sz="1300" b="1" i="0">
                <a:solidFill>
                  <a:srgbClr val="1A1A1A"/>
                </a:solidFill>
                <a:latin typeface="Apple SD Gothic Neo"/>
              </a:rPr>
              <a:t>재검토 트리거: API-키 과금 전환 + 전사에 ephemeral_5m write 관측</a:t>
            </a:r>
          </a:p>
          <a:p>
            <a:pPr algn="l" lvl="1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Apple SD Gothic Neo"/>
              </a:rPr>
              <a:t>두 조건이 동시에 성립할 때만 플러그인이 유효</a:t>
            </a:r>
          </a:p>
          <a:p>
            <a:pPr algn="l" lvl="1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Apple SD Gothic Neo"/>
              </a:rPr>
              <a:t>TTL은 계약이 아닌 환경 변수 (1h→5m로 바뀐 전례 2026/3)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buNone/>
            </a:pPr>
            <a:r>
              <a:rPr sz="1300" b="1" i="0">
                <a:solidFill>
                  <a:srgbClr val="1A1A1A"/>
                </a:solidFill>
                <a:latin typeface="Apple SD Gothic Neo"/>
              </a:rPr>
              <a:t>조치: 조건 충족 시 harness/run-all.py 재실행으로 재측정</a:t>
            </a:r>
          </a:p>
          <a:p>
            <a:pPr algn="l" lvl="1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Apple SD Gothic Neo"/>
              </a:rPr>
              <a:t>반사실 분석(슬라이드 14)이 실제 API 비용 절감을 예측</a:t>
            </a:r>
          </a:p>
          <a:p>
            <a:pPr algn="l">
              <a:spcBef>
                <a:spcPts val="1400"/>
              </a:spcBef>
              <a:buNone/>
            </a:pPr>
            <a:r>
              <a:rPr sz="1300" b="1" i="0">
                <a:solidFill>
                  <a:srgbClr val="1A1A1A"/>
                </a:solidFill>
                <a:latin typeface="Apple SD Gothic Neo"/>
              </a:rPr>
              <a:t>현 환경 권고: 플러그인 OFF 유지. 과금 방식 또는 TTL이 변할 때에만 재검토.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500055" y="164592"/>
            <a:ext cx="1280160" cy="274320"/>
          </a:xfrm>
          <a:prstGeom prst="rect">
            <a:avLst/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45775" y="164592"/>
            <a:ext cx="1188719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888888"/>
                </a:solidFill>
                <a:latin typeface="Apple SD Gothic Neo"/>
              </a:rPr>
              <a:t>캐시 킵얼라이브 검증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11480"/>
            <a:ext cx="1136873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2400" b="1" i="0">
                <a:solidFill>
                  <a:srgbClr val="1A1A1A"/>
                </a:solidFill>
                <a:latin typeface="Apple SD Gothic Neo"/>
              </a:rPr>
              <a:t>방법론 견고성과 한계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1051560"/>
            <a:ext cx="11368735" cy="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11480" y="6446520"/>
            <a:ext cx="11368735" cy="0"/>
          </a:xfrm>
          <a:prstGeom prst="line">
            <a:avLst/>
          </a:prstGeom>
          <a:ln w="63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1480" y="6492240"/>
            <a:ext cx="568436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900" b="0" i="0">
                <a:solidFill>
                  <a:srgbClr val="1A1A1A"/>
                </a:solidFill>
                <a:latin typeface="Apple SD Gothic Neo"/>
              </a:rPr>
              <a:t>1. xx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656831"/>
            <a:ext cx="568436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900" b="0" i="0">
                <a:solidFill>
                  <a:srgbClr val="1A1A1A"/>
                </a:solidFill>
                <a:latin typeface="Apple SD Gothic Neo"/>
              </a:rPr>
              <a:t>Source: xx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2615" y="6537959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buNone/>
            </a:pPr>
            <a:r>
              <a:rPr sz="900" b="0" i="0">
                <a:solidFill>
                  <a:srgbClr val="888888"/>
                </a:solidFill>
                <a:latin typeface="Apple SD Gothic Neo"/>
              </a:rPr>
              <a:t>ⓒ 2026 AX Labs   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371600"/>
            <a:ext cx="5501487" cy="502920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371600"/>
            <a:ext cx="5318607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600" b="1" i="0">
                <a:solidFill>
                  <a:srgbClr val="FFFFFF"/>
                </a:solidFill>
                <a:latin typeface="Apple SD Gothic Neo"/>
              </a:rPr>
              <a:t>견고한 근거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1874519"/>
            <a:ext cx="5501487" cy="43891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057400"/>
            <a:ext cx="320040" cy="13411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400" b="1" i="0">
                <a:solidFill>
                  <a:srgbClr val="4CAF50"/>
                </a:solidFill>
                <a:latin typeface="Apple SD Gothic Neo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057400"/>
            <a:ext cx="4769967" cy="13411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200" b="0" i="0">
                <a:solidFill>
                  <a:srgbClr val="1A1A1A"/>
                </a:solidFill>
                <a:latin typeface="Apple SD Gothic Neo"/>
              </a:rPr>
              <a:t>유휴 경계 캐시 상태는 턴 수에 무관하게 robust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398520"/>
            <a:ext cx="320040" cy="13411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400" b="1" i="0">
                <a:solidFill>
                  <a:srgbClr val="4CAF50"/>
                </a:solidFill>
                <a:latin typeface="Apple SD Gothic Neo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398520"/>
            <a:ext cx="4769967" cy="13411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200" b="0" i="0">
                <a:solidFill>
                  <a:srgbClr val="1A1A1A"/>
                </a:solidFill>
                <a:latin typeface="Apple SD Gothic Neo"/>
              </a:rPr>
              <a:t>캐시 히트율(CHR)도 턴 수 영향 없이 robust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739640"/>
            <a:ext cx="320040" cy="13411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400" b="1" i="0">
                <a:solidFill>
                  <a:srgbClr val="4CAF50"/>
                </a:solidFill>
                <a:latin typeface="Apple SD Gothic Neo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739640"/>
            <a:ext cx="4769967" cy="13411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200" b="0" i="0">
                <a:solidFill>
                  <a:srgbClr val="1A1A1A"/>
                </a:solidFill>
                <a:latin typeface="Apple SD Gothic Neo"/>
              </a:rPr>
              <a:t>70분 단일 유휴 암이 TTL을 7~70분으로 고정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78727" y="1371600"/>
            <a:ext cx="5501487" cy="502920"/>
          </a:xfrm>
          <a:prstGeom prst="rect">
            <a:avLst/>
          </a:prstGeom>
          <a:solidFill>
            <a:srgbClr val="E04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61607" y="1371600"/>
            <a:ext cx="5318607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600" b="1" i="0">
                <a:solidFill>
                  <a:srgbClr val="FFFFFF"/>
                </a:solidFill>
                <a:latin typeface="Apple SD Gothic Neo"/>
              </a:rPr>
              <a:t>한계 및 주의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78727" y="1874519"/>
            <a:ext cx="5501487" cy="43891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61607" y="2057400"/>
            <a:ext cx="320040" cy="13411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400" b="1" i="0">
                <a:solidFill>
                  <a:srgbClr val="E04E5E"/>
                </a:solidFill>
                <a:latin typeface="Apple SD Gothic Neo"/>
              </a:rPr>
              <a:t>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27367" y="2057400"/>
            <a:ext cx="4769967" cy="13411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200" b="0" i="0">
                <a:solidFill>
                  <a:srgbClr val="1A1A1A"/>
                </a:solidFill>
                <a:latin typeface="Apple SD Gothic Neo"/>
              </a:rPr>
              <a:t>암당 n=1 (반복 측정 없음)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61607" y="3398520"/>
            <a:ext cx="320040" cy="13411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400" b="1" i="0">
                <a:solidFill>
                  <a:srgbClr val="E04E5E"/>
                </a:solidFill>
                <a:latin typeface="Apple SD Gothic Neo"/>
              </a:rPr>
              <a:t>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27367" y="3398520"/>
            <a:ext cx="4769967" cy="13411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200" b="0" i="0">
                <a:solidFill>
                  <a:srgbClr val="1A1A1A"/>
                </a:solidFill>
                <a:latin typeface="Apple SD Gothic Neo"/>
              </a:rPr>
              <a:t>Claude 비결정성으로 암 간 총량 교란 (45턴 vs 35턴)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61607" y="4739640"/>
            <a:ext cx="320040" cy="13411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400" b="1" i="0">
                <a:solidFill>
                  <a:srgbClr val="E04E5E"/>
                </a:solidFill>
                <a:latin typeface="Apple SD Gothic Neo"/>
              </a:rPr>
              <a:t>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27367" y="4739640"/>
            <a:ext cx="4769967" cy="13411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200" b="0" i="0">
                <a:solidFill>
                  <a:srgbClr val="1A1A1A"/>
                </a:solidFill>
                <a:latin typeface="Apple SD Gothic Neo"/>
              </a:rPr>
              <a:t>TTL을 분 단위로 정확히 특정하지는 못함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