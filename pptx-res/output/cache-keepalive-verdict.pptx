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25935" y="0"/>
            <a:ext cx="365760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2743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Apple SD Gothic Neo"/>
              </a:rPr>
              <a:t>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865815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4000" b="1" i="0">
                <a:solidFill>
                  <a:srgbClr val="1A1A1A"/>
                </a:solidFill>
                <a:latin typeface="Apple SD Gothic Neo"/>
              </a:rPr>
              <a:t>Claude Code KV-캐시를 살려둘 가치가 있는가?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086581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BFBFBF"/>
                </a:solidFill>
                <a:latin typeface="Apple SD Gothic Neo"/>
              </a:rPr>
              <a:t>구독 과금 환경에서 cache-keepalive 플러그인 실측 A/B 검증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5760720"/>
            <a:ext cx="5943600" cy="0"/>
          </a:xfrm>
          <a:prstGeom prst="line">
            <a:avLst/>
          </a:prstGeom>
          <a:ln w="12700">
            <a:solidFill>
              <a:srgbClr val="0A1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Claude Code v2.1.18x · Claude Pro · Opus 4.8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904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88888"/>
                </a:solidFill>
                <a:latin typeface="Apple SD Gothic Neo"/>
              </a:rPr>
              <a:t>2026-06-22 · 라이브 중첩 세션 5종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640080"/>
            <a:ext cx="11368735" cy="0"/>
          </a:xfrm>
          <a:prstGeom prst="line">
            <a:avLst/>
          </a:prstGeom>
          <a:ln w="50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27432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BFBFBF"/>
                </a:solidFill>
                <a:latin typeface="Apple SD Gothic Neo"/>
              </a:rPr>
              <a:t>cache-keepalive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2447" y="1417320"/>
            <a:ext cx="8686800" cy="3657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ple SD Gothic Neo"/>
              </a:rPr>
              <a:t>결론: 이 환경에서 플러그인은 절약이 없고 쿼터만 소모한다 — 캐시 TTL이 1시간이라 7분 유휴는 자체로 캐시가 유지되며, 모든 킵얼라이브 핑은 5시간 쿼터를 깎는 불필요 요청이다. 끄는 것을 권고한다.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9815" y="64922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BFBFBF"/>
                </a:solidFill>
                <a:latin typeface="Apple SD Gothic Neo"/>
              </a:rPr>
              <a:t>McKinsey &amp; Company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세 가지 핵심 결론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이 환경의 캐시 TTL은 5분이 아니라 1시간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write 토큰 466,136개 100%가 ephemeral_1h 사용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ephemeral_5m 사용량은 0개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플러그인 전제(300초 TTL 격파)가 성립하지 않음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7분 유휴 후에도 플러그인 없이 캐시는 따뜻함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7분 4개 암 모두 유휴 직후 캐시-read 우세 (35k~45k read)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write는 거의 0, 콜드 재작성 없음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ON 암이 얻은 이득을 OFF 암도 공짜로 누림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킵얼라이브 핑 하나하나가 낭비된 구독 요청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구독 과금은 토큰이 아니라 요청 수로 청구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기본값은 유휴당 최대 7회 핑 발사 가능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토큰 이득 0 → 최대 7개 요청 낭비</a:t>
            </a:r>
          </a:p>
          <a:p>
            <a:pPr algn="l">
              <a:spcBef>
                <a:spcPts val="1400"/>
              </a:spcBef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이 구독 설치 환경에서는 플러그인을 끈 채로 둘 것을 권고한다.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플러그인은 비싼 캐시 write를 값싼 캐시 read로 바꾼다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4</a:t>
            </a:r>
          </a:p>
        </p:txBody>
      </p:sp>
      <p:sp>
        <p:nvSpPr>
          <p:cNvPr id="10" name="Chevron 9"/>
          <p:cNvSpPr/>
          <p:nvPr/>
        </p:nvSpPr>
        <p:spPr>
          <a:xfrm>
            <a:off x="411480" y="1828800"/>
            <a:ext cx="3047923" cy="777240"/>
          </a:xfrm>
          <a:prstGeom prst="chevron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A1F3D"/>
                </a:solidFill>
                <a:latin typeface="Apple SD Gothic Ne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유휴 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대화 유휴 구간 진입, 캐시 TTL 카운트다운 시작</a:t>
            </a:r>
          </a:p>
        </p:txBody>
      </p:sp>
      <p:sp>
        <p:nvSpPr>
          <p:cNvPr id="15" name="Chevron 14"/>
          <p:cNvSpPr/>
          <p:nvPr/>
        </p:nvSpPr>
        <p:spPr>
          <a:xfrm>
            <a:off x="3185083" y="1828800"/>
            <a:ext cx="3047923" cy="777240"/>
          </a:xfrm>
          <a:prstGeom prst="chevron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49675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49675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2E9BD6"/>
                </a:solidFill>
                <a:latin typeface="Apple SD Gothic Ne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5163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킵얼라이브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6523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Stop 훅이 약 240초 후 값싼 더미 턴 주입</a:t>
            </a:r>
          </a:p>
        </p:txBody>
      </p:sp>
      <p:sp>
        <p:nvSpPr>
          <p:cNvPr id="20" name="Chevron 19"/>
          <p:cNvSpPr/>
          <p:nvPr/>
        </p:nvSpPr>
        <p:spPr>
          <a:xfrm>
            <a:off x="5958687" y="1828800"/>
            <a:ext cx="3047923" cy="777240"/>
          </a:xfrm>
          <a:prstGeom prst="chevron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23279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3279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0A1F3D"/>
                </a:solidFill>
                <a:latin typeface="Apple SD Gothic Neo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8767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캐시 유지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0127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read로 TTL 갱신 → 캐시 따뜻하게 유지</a:t>
            </a:r>
          </a:p>
        </p:txBody>
      </p:sp>
      <p:sp>
        <p:nvSpPr>
          <p:cNvPr id="25" name="Chevron 24"/>
          <p:cNvSpPr/>
          <p:nvPr/>
        </p:nvSpPr>
        <p:spPr>
          <a:xfrm>
            <a:off x="8732291" y="1828800"/>
            <a:ext cx="3047923" cy="777240"/>
          </a:xfrm>
          <a:prstGeom prst="chevron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896883" y="2025395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96883" y="2025395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100" b="1" i="0">
                <a:solidFill>
                  <a:srgbClr val="2E9BD6"/>
                </a:solidFill>
                <a:latin typeface="Apple SD Gothic Neo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371" y="1828800"/>
            <a:ext cx="2160955" cy="777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이득 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731" y="2788920"/>
            <a:ext cx="2682163" cy="3291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1A1A1A"/>
                </a:solidFill>
                <a:latin typeface="Apple SD Gothic Neo"/>
              </a:rPr>
              <a:t>유휴가 TTL 초과할 때만 절약 발생 (write 2.0x vs read 0.1x)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동일 베이스라인, 실제 벽시계 유휴로 구성한 5개 라이브 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HEAD 분기 워크트리에서 편집 폐기, 전사 JSONL로 턴별 토큰 파싱 (비결정성 유의)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11368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워크로드 2종 × 플러그인 ON/OFF + 70분 TTL 탐침 암 1종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wlA-off</a:t>
            </a:r>
          </a:p>
        </p:txBody>
      </p:sp>
      <p:sp>
        <p:nvSpPr>
          <p:cNvPr id="14" name="Oval 13"/>
          <p:cNvSpPr/>
          <p:nvPr/>
        </p:nvSpPr>
        <p:spPr>
          <a:xfrm>
            <a:off x="1312438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2438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워크로드 A · TS API JSDoc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플러그인 OFF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유휴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7172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07172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8612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wlA-on</a:t>
            </a:r>
          </a:p>
        </p:txBody>
      </p:sp>
      <p:sp>
        <p:nvSpPr>
          <p:cNvPr id="20" name="Oval 19"/>
          <p:cNvSpPr/>
          <p:nvPr/>
        </p:nvSpPr>
        <p:spPr>
          <a:xfrm>
            <a:off x="3608130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8130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98612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워크로드 A · TS API JSDoc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플러그인 ON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유휴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2865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02865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4305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wlB-off</a:t>
            </a:r>
          </a:p>
        </p:txBody>
      </p:sp>
      <p:sp>
        <p:nvSpPr>
          <p:cNvPr id="26" name="Oval 25"/>
          <p:cNvSpPr/>
          <p:nvPr/>
        </p:nvSpPr>
        <p:spPr>
          <a:xfrm>
            <a:off x="5903823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03823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4305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워크로드 B · Python 오류경로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플러그인 OFF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유휴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98557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98557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9997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wlB-on</a:t>
            </a:r>
          </a:p>
        </p:txBody>
      </p:sp>
      <p:sp>
        <p:nvSpPr>
          <p:cNvPr id="32" name="Oval 31"/>
          <p:cNvSpPr/>
          <p:nvPr/>
        </p:nvSpPr>
        <p:spPr>
          <a:xfrm>
            <a:off x="8199516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99516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9997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워크로드 B · Python 오류경로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플러그인 ON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7분 유휴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94250" y="2331720"/>
            <a:ext cx="2185964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4250" y="2331720"/>
            <a:ext cx="2185964" cy="4572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85690" y="2331720"/>
            <a:ext cx="2003084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ttl-long</a:t>
            </a:r>
          </a:p>
        </p:txBody>
      </p:sp>
      <p:sp>
        <p:nvSpPr>
          <p:cNvPr id="38" name="Oval 37"/>
          <p:cNvSpPr/>
          <p:nvPr/>
        </p:nvSpPr>
        <p:spPr>
          <a:xfrm>
            <a:off x="10495208" y="187451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95208" y="1874519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0A1F3D"/>
                </a:solidFill>
                <a:latin typeface="Apple SD Gothic Neo"/>
              </a:rPr>
              <a:t>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5690" y="2834639"/>
            <a:ext cx="2003084" cy="338327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TTL 한계 탐침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플러그인 OFF</a:t>
            </a:r>
          </a:p>
          <a:p>
            <a:pPr algn="l" indent="-228600" marL="228600">
              <a:spcAft>
                <a:spcPts val="200"/>
              </a:spcAft>
              <a:buChar char="•"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70분 단일 유휴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486399"/>
            <a:ext cx="2194560" cy="64008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486399"/>
            <a:ext cx="2011679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100" b="0" i="0">
                <a:solidFill>
                  <a:srgbClr val="FFFFFF"/>
                </a:solidFill>
                <a:latin typeface="Apple SD Gothic Neo"/>
              </a:rPr>
              <a:t>각 암 = 일회용 워크트리 · n=1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7분 유휴는 따뜻하게 유지, 70분 유휴만 콜드로 전환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gap-boundary.csv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유휴 직후 첫 실턴의 캐시 read vs write 토큰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777239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783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pple SD Gothic Neo"/>
              </a:rPr>
              <a:t>캐시 토큰, </a:t>
            </a:r>
            <a:r>
              <a:rPr sz="1400">
                <a:solidFill>
                  <a:srgbClr val="BFBFBF"/>
                </a:solidFill>
                <a:latin typeface="Apple SD Gothic Neo"/>
              </a:rPr>
              <a:t>천 토큰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78308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캐시 write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51192" y="1828800"/>
            <a:ext cx="201168" cy="13716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1" y="178308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캐시 read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3" y="1828800"/>
            <a:ext cx="201168" cy="13716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914400" y="5715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5623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53721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52806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50292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9377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6863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45948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3434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42519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40005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" y="39090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6576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33147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32232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29718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8803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26289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25374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4400" y="2286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" y="2194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20768" y="5715000"/>
            <a:ext cx="484517" cy="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59121" y="3993641"/>
            <a:ext cx="484517" cy="172135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21961" y="3737609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ttl-long(70분)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56376" y="3184398"/>
            <a:ext cx="484517" cy="2530602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19216" y="2928365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94729" y="5715000"/>
            <a:ext cx="484517" cy="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04288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wlA-off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91984" y="3266694"/>
            <a:ext cx="484517" cy="2448306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54824" y="3010661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30337" y="5708142"/>
            <a:ext cx="484517" cy="685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39896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wlA-on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27592" y="2711196"/>
            <a:ext cx="484517" cy="3003803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90432" y="2455164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65945" y="5625846"/>
            <a:ext cx="484517" cy="8915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28785" y="5369814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75503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wlB-off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63200" y="2608326"/>
            <a:ext cx="484517" cy="3106673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6040" y="2352294"/>
            <a:ext cx="75883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1553" y="5708142"/>
            <a:ext cx="484517" cy="6858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11112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wlB-on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503920" y="1783080"/>
            <a:ext cx="0" cy="443484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641080" y="1737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핵심 시사점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641080" y="2057400"/>
            <a:ext cx="315467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641080" y="2286000"/>
            <a:ext cx="315468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ttl-long만 read 0 / write 25,134 — 완전 콜드 재작성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7분 4개 암은 read 우세, 캐시 생존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TTL은 7~70분 사이로 묶임 (문서상 1시간과 일치)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약 150턴 동안 5분 캐시 write는 단 한 건도 없었다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11368735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0400" b="1" i="0">
                <a:solidFill>
                  <a:srgbClr val="0A1F3D"/>
                </a:solidFill>
                <a:latin typeface="Apple SD Gothic Neo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617720"/>
            <a:ext cx="1136873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2400" b="1" i="0">
                <a:solidFill>
                  <a:srgbClr val="2E9BD6"/>
                </a:solidFill>
                <a:latin typeface="Apple SD Gothic Neo"/>
              </a:rPr>
              <a:t>ephemeral_1h를 사용한 write 토큰 비중 (총 466,136개)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349240"/>
            <a:ext cx="8534095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400" b="0" i="0">
                <a:solidFill>
                  <a:srgbClr val="1A1A1A"/>
                </a:solidFill>
                <a:latin typeface="Apple SD Gothic Neo"/>
              </a:rPr>
              <a:t>ephemeral_5m write = 0개. 플러그인이 노리는 5분 TTL은 이 환경에 존재하지 않는다.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따뜻한 암은 89~95%, 콜드 70분 암만 56%로 붕괴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kpis.csv (CHR)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캐시 히트율(CHR) = read / (read + write)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777239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783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pple SD Gothic Neo"/>
              </a:rPr>
              <a:t>캐시 히트율, </a:t>
            </a:r>
            <a:r>
              <a:rPr sz="1400">
                <a:solidFill>
                  <a:srgbClr val="BFBFBF"/>
                </a:solidFill>
                <a:latin typeface="Apple SD Gothic Neo"/>
              </a:rPr>
              <a:t>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5715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5623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53721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52806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0292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49377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46863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45948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43434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2519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0005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39090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36576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60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33147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" y="32232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70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29718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28803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80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26289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25374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2286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194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01521" y="2471166"/>
            <a:ext cx="861364" cy="324383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8641" y="2196846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wlA-off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37129" y="2608326"/>
            <a:ext cx="861364" cy="3106673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54249" y="2334006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04288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wlB-on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72737" y="2615184"/>
            <a:ext cx="861364" cy="309981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89857" y="2340864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39896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wlA-on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08345" y="2659761"/>
            <a:ext cx="861364" cy="305523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25465" y="2385441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89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75503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wlB-off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3953" y="3794760"/>
            <a:ext cx="861364" cy="192024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1073" y="3520440"/>
            <a:ext cx="12271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11112" y="5788152"/>
            <a:ext cx="152704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ttl-long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503920" y="1783080"/>
            <a:ext cx="0" cy="443484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641080" y="1737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핵심 시사점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641080" y="2057400"/>
            <a:ext cx="315467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641080" y="2286000"/>
            <a:ext cx="315468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wlA-on(90.4%) ≈ wlA-off(94.6%)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ON·OFF 차이는 캐시 효과가 아닌 워크로드 노이즈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플러그인은 CHR을 끌어올리지 못함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콜드 암만 유일하게 56%로 급락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ON 암은 각각 값싼 킵얼라이브 read 1회만 발사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014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wlA-on · t27 킵얼라이브 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11679"/>
            <a:ext cx="51357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 read 35,691 토큰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 write 25 토큰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출력 22 토큰 (0.1x 값싼 read)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1371600"/>
            <a:ext cx="55014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wlB-on · t28 킵얼라이브 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2011679"/>
            <a:ext cx="5135727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 read 44,355 토큰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캐시 write 909 토큰</a:t>
            </a:r>
          </a:p>
          <a:p>
            <a:pPr algn="l" indent="-228600" marL="228600">
              <a:spcAft>
                <a:spcPts val="4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출력 54 토큰 (0.1x 값싼 read)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5분 TTL·API 과금이라면 유휴당 약 41,000 가중 토큰 절약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counterfactual-5min-ttl.csv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약 36k 프리픽스 기준 유휴당 가중 토큰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1600200"/>
            <a:ext cx="777239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1783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1A1A1A"/>
                </a:solidFill>
                <a:latin typeface="Apple SD Gothic Neo"/>
              </a:rPr>
              <a:t>가중 토큰, </a:t>
            </a:r>
            <a:r>
              <a:rPr sz="1400">
                <a:solidFill>
                  <a:srgbClr val="BFBFBF"/>
                </a:solidFill>
                <a:latin typeface="Apple SD Gothic Neo"/>
              </a:rPr>
              <a:t>천 토큰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78308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가중 토큰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51192" y="1828800"/>
            <a:ext cx="201168" cy="13716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14400" y="5715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1480" y="5623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3721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52806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50292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49377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46863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5948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15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43434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42519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0005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11480" y="39090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25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4400" y="36576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14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33147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1480" y="32232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35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400" y="29718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" y="28803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26289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25374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14400" y="2286000"/>
            <a:ext cx="7178040" cy="0"/>
          </a:xfrm>
          <a:prstGeom prst="line">
            <a:avLst/>
          </a:prstGeom>
          <a:ln w="635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21945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97615" y="2628900"/>
            <a:ext cx="2422588" cy="30861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60455" y="2372868"/>
            <a:ext cx="26969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788152"/>
            <a:ext cx="368045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콜드 재작성(플러그인 없음)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86635" y="5468112"/>
            <a:ext cx="2422588" cy="246888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49475" y="5212080"/>
            <a:ext cx="26969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b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7700" y="5788152"/>
            <a:ext cx="368045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1A1A1A"/>
                </a:solidFill>
                <a:latin typeface="Apple SD Gothic Neo"/>
              </a:rPr>
              <a:t>킵얼라이브 read(플러그인)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503920" y="1783080"/>
            <a:ext cx="0" cy="4434840"/>
          </a:xfrm>
          <a:prstGeom prst="line">
            <a:avLst/>
          </a:prstGeom>
          <a:ln w="635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641080" y="173736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1A1A1A"/>
                </a:solidFill>
                <a:latin typeface="Apple SD Gothic Neo"/>
              </a:rPr>
              <a:t>반사실 시나리오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641080" y="2057400"/>
            <a:ext cx="3154679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641080" y="2286000"/>
            <a:ext cx="3154680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콜드 재작성 36k x 1.25 ≈ 45,000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킵얼라이브 read 36k x 0.10 ≈ 3,600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유휴당 절약 약 41,400 — 단, +1 요청</a:t>
            </a:r>
          </a:p>
          <a:p>
            <a:pPr algn="l" indent="-228600" marL="228600">
              <a:spcAft>
                <a:spcPts val="10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Aider·Cline 환경의 결과, 여기선 레버가 연결되지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토큰 비용(API)은 거의 안 움직이고, 요청 비용(구독)은 오르기만 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371600"/>
            <a:ext cx="1136873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BFBFBF"/>
                </a:solidFill>
                <a:latin typeface="Apple SD Gothic Neo"/>
              </a:rPr>
              <a:t>환경·유휴 조건별 플러그인 판정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37360"/>
            <a:ext cx="219456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2011679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Apple SD Gothic Neo"/>
              </a:rPr>
              <a:t>Criteria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737360"/>
            <a:ext cx="4587087" cy="50292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80" y="1737360"/>
            <a:ext cx="44042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플러그인 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127" y="1737360"/>
            <a:ext cx="4587087" cy="50292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4567" y="1737360"/>
            <a:ext cx="44042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buNone/>
            </a:pPr>
            <a:r>
              <a:rPr sz="1200" b="1" i="0">
                <a:solidFill>
                  <a:srgbClr val="FFFFFF"/>
                </a:solidFill>
                <a:latin typeface="Apple SD Gothic Neo"/>
              </a:rPr>
              <a:t>플러그인 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240280"/>
            <a:ext cx="9174175" cy="1310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40280"/>
            <a:ext cx="201167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Apple SD Gothic Neo"/>
              </a:rPr>
              <a:t>이 환경(1h TTL)·7분 유휴</a:t>
            </a:r>
          </a:p>
        </p:txBody>
      </p:sp>
      <p:sp>
        <p:nvSpPr>
          <p:cNvPr id="19" name="Oval 18"/>
          <p:cNvSpPr/>
          <p:nvPr/>
        </p:nvSpPr>
        <p:spPr>
          <a:xfrm>
            <a:off x="4693843" y="26898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93843" y="268986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80931" y="268986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931" y="268986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86671" y="2685288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76359" y="2895600"/>
            <a:ext cx="210312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80931" y="2689860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11480" y="3550920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3550920"/>
            <a:ext cx="201167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Apple SD Gothic Neo"/>
              </a:rPr>
              <a:t>가상 5분 TTL·7분 유휴</a:t>
            </a:r>
          </a:p>
        </p:txBody>
      </p:sp>
      <p:sp>
        <p:nvSpPr>
          <p:cNvPr id="28" name="Oval 27"/>
          <p:cNvSpPr/>
          <p:nvPr/>
        </p:nvSpPr>
        <p:spPr>
          <a:xfrm>
            <a:off x="4693843" y="40005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93843" y="400050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99583" y="3995928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89271" y="4206240"/>
            <a:ext cx="210312" cy="2148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93843" y="4000500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80931" y="400050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80931" y="400050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411480" y="4861560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606040" y="4861560"/>
            <a:ext cx="9174175" cy="1310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861560"/>
            <a:ext cx="201167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1A1A1A"/>
                </a:solidFill>
                <a:latin typeface="Apple SD Gothic Neo"/>
              </a:rPr>
              <a:t>이 환경·1시간 초과 유휴</a:t>
            </a:r>
          </a:p>
        </p:txBody>
      </p:sp>
      <p:sp>
        <p:nvSpPr>
          <p:cNvPr id="38" name="Oval 37"/>
          <p:cNvSpPr/>
          <p:nvPr/>
        </p:nvSpPr>
        <p:spPr>
          <a:xfrm>
            <a:off x="4693843" y="53111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93843" y="531114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99583" y="5306568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93843" y="5311140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80931" y="531114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80931" y="5311140"/>
            <a:ext cx="411480" cy="411480"/>
          </a:xfrm>
          <a:prstGeom prst="ellipse">
            <a:avLst/>
          </a:prstGeom>
          <a:solidFill>
            <a:srgbClr val="0A1F3D"/>
          </a:solidFill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86671" y="5306568"/>
            <a:ext cx="210312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80931" y="5311140"/>
            <a:ext cx="411480" cy="411480"/>
          </a:xfrm>
          <a:prstGeom prst="ellipse">
            <a:avLst/>
          </a:prstGeom>
          <a:noFill/>
          <a:ln w="12700">
            <a:solidFill>
              <a:srgbClr val="0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11480" y="6172200"/>
            <a:ext cx="11368735" cy="0"/>
          </a:xfrm>
          <a:prstGeom prst="line">
            <a:avLst/>
          </a:prstGeom>
          <a:ln w="508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06040" y="6217920"/>
            <a:ext cx="458708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buNone/>
            </a:pPr>
            <a:r>
              <a:rPr sz="1000" b="1" i="0">
                <a:solidFill>
                  <a:srgbClr val="2E9BD6"/>
                </a:solidFill>
                <a:latin typeface="Apple SD Gothic Neo"/>
              </a:rPr>
              <a:t>★ Recommended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여기선 플러그인을 끈 채로 — 과금·TTL이 바뀔 때만 재검토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1368735" cy="5074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실행: 이 구독 설치에서 cache-keepalive 비활성 유지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현재 1시간 TTL에서는 순수 오버헤드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유휴는 자체로 캐시를 따뜻하게 유지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재검토 트리거: API-키 과금 전환 + 전사에 ephemeral_5m write 관측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두 조건이 동시에 성립할 때만 유효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TTL은 계약이 아닌 환경 변수 (1h→5m, 2026/3 변경 전례)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조치: 조건 충족 시 harness/run-all.py 재실행</a:t>
            </a:r>
          </a:p>
          <a:p>
            <a:pPr algn="l" lvl="1" indent="-228600" marL="228600">
              <a:spcAft>
                <a:spcPts val="200"/>
              </a:spcAft>
              <a:buChar char="•"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§6 반사실 분석이 실제 API 비용 절감을 예측</a:t>
            </a:r>
          </a:p>
          <a:p>
            <a:pPr algn="l">
              <a:spcBef>
                <a:spcPts val="1400"/>
              </a:spcBef>
              <a:buNone/>
            </a:pPr>
            <a:r>
              <a:rPr sz="1300" b="1" i="0">
                <a:solidFill>
                  <a:srgbClr val="1A1A1A"/>
                </a:solidFill>
                <a:latin typeface="Apple SD Gothic Neo"/>
              </a:rPr>
              <a:t>현 환경 권고: 플러그인 OFF 유지. 과금 또는 TTL 변경 시에만 재검토.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500055" y="164592"/>
            <a:ext cx="128016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45775" y="164592"/>
            <a:ext cx="118871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buNone/>
            </a:pPr>
            <a:r>
              <a:rPr sz="1000" b="0" i="0">
                <a:solidFill>
                  <a:srgbClr val="888888"/>
                </a:solidFill>
                <a:latin typeface="Apple SD Gothic Neo"/>
              </a:rPr>
              <a:t>캐시 킵얼라이브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11368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1A1A1A"/>
                </a:solidFill>
                <a:latin typeface="Apple SD Gothic Neo"/>
              </a:rPr>
              <a:t>방법론 견고성과 한계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051560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1480" y="6492240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1. 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656831"/>
            <a:ext cx="5684367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1A1A1A"/>
                </a:solidFill>
                <a:latin typeface="Apple SD Gothic Neo"/>
              </a:rPr>
              <a:t>Source: xx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2615" y="6537959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888888"/>
                </a:solidFill>
                <a:latin typeface="Apple SD Gothic Neo"/>
              </a:rPr>
              <a:t>ⓒ 2026 AX Labs  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371600"/>
            <a:ext cx="5501487" cy="5029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견고한 근거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Apple SD Gothic Ne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5740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유휴 경계 캐시 상태는 턴 수에 무관하게 robust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9852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Apple SD Gothic Ne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9852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CHR도 턴 수 영향 없이 robust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3964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CAF50"/>
                </a:solidFill>
                <a:latin typeface="Apple SD Gothic Ne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3964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70분 단일 유휴 암이 TTL을 7~70분으로 고정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8727" y="1371600"/>
            <a:ext cx="5501487" cy="502920"/>
          </a:xfrm>
          <a:prstGeom prst="rect">
            <a:avLst/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1371600"/>
            <a:ext cx="5318607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FFFFFF"/>
                </a:solidFill>
                <a:latin typeface="Apple SD Gothic Neo"/>
              </a:rPr>
              <a:t>한계 및 주의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8727" y="1874519"/>
            <a:ext cx="5501487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1607" y="205740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Apple SD Gothic Neo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7367" y="205740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암당 n=1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339852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Apple SD Gothic Neo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7367" y="339852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Claude 비결정성으로 암 간 총량 교란 (45 vs 35턴)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4739640"/>
            <a:ext cx="320040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E04E5E"/>
                </a:solidFill>
                <a:latin typeface="Apple SD Gothic Neo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7367" y="4739640"/>
            <a:ext cx="4769967" cy="1341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1A1A1A"/>
                </a:solidFill>
                <a:latin typeface="Apple SD Gothic Neo"/>
              </a:rPr>
              <a:t>TTL을 분 단위로 정확히 특정하지 못함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